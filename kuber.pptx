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83" r:id="rId4"/>
    <p:sldId id="284" r:id="rId5"/>
    <p:sldId id="260" r:id="rId6"/>
    <p:sldId id="285" r:id="rId7"/>
    <p:sldId id="263" r:id="rId8"/>
    <p:sldId id="295" r:id="rId9"/>
    <p:sldId id="296" r:id="rId10"/>
    <p:sldId id="297" r:id="rId11"/>
    <p:sldId id="298" r:id="rId12"/>
    <p:sldId id="299" r:id="rId13"/>
    <p:sldId id="300" r:id="rId14"/>
    <p:sldId id="301" r:id="rId15"/>
    <p:sldId id="303" r:id="rId16"/>
    <p:sldId id="302" r:id="rId17"/>
    <p:sldId id="307" r:id="rId18"/>
    <p:sldId id="308" r:id="rId19"/>
    <p:sldId id="309" r:id="rId20"/>
    <p:sldId id="306" r:id="rId21"/>
    <p:sldId id="304" r:id="rId22"/>
    <p:sldId id="310" r:id="rId23"/>
    <p:sldId id="311" r:id="rId24"/>
    <p:sldId id="312" r:id="rId25"/>
    <p:sldId id="313" r:id="rId26"/>
    <p:sldId id="305"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68521" autoAdjust="0"/>
  </p:normalViewPr>
  <p:slideViewPr>
    <p:cSldViewPr snapToGrid="0">
      <p:cViewPr varScale="1">
        <p:scale>
          <a:sx n="111" d="100"/>
          <a:sy n="111" d="100"/>
        </p:scale>
        <p:origin x="223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97C0C-3841-4E62-B774-7F82C3895358}" type="datetimeFigureOut">
              <a:rPr lang="ru-RU" smtClean="0"/>
              <a:t>24.03.2026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4880F-8859-4814-B5BA-DC0EB73BF050}" type="slidenum">
              <a:rPr lang="ru-RU" smtClean="0"/>
              <a:t>‹#›</a:t>
            </a:fld>
            <a:endParaRPr lang="ru-RU"/>
          </a:p>
        </p:txBody>
      </p:sp>
    </p:spTree>
    <p:extLst>
      <p:ext uri="{BB962C8B-B14F-4D97-AF65-F5344CB8AC3E}">
        <p14:creationId xmlns:p14="http://schemas.microsoft.com/office/powerpoint/2010/main" val="2142994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ru.wikipedia.org/wiki/Docker"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opencontainers.org/"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ru.wikipedia.org/wiki/Docker"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opencontainers.org/"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Контейнеризация — метод, с помощью которого программный код упаковывается в единый исполняемый файл вместе с библиотеками и зависимостями, чтобы обеспечить его корректный запуск. Такие файлы называют контейнерами. </a:t>
            </a:r>
          </a:p>
          <a:p>
            <a:r>
              <a:rPr lang="ru-RU" sz="1200" b="0" i="0" kern="1200" dirty="0">
                <a:solidFill>
                  <a:schemeClr val="tx1"/>
                </a:solidFill>
                <a:effectLst/>
                <a:latin typeface="+mn-lt"/>
                <a:ea typeface="+mn-ea"/>
                <a:cs typeface="+mn-cs"/>
              </a:rPr>
              <a:t>Интерес к решениям на основе контейнеров и их широкое использование привело к тому, что в 2015 году компания </a:t>
            </a:r>
            <a:r>
              <a:rPr lang="ru-RU" sz="1200" b="0" i="0" u="none" strike="noStrike" kern="1200" dirty="0" err="1">
                <a:solidFill>
                  <a:schemeClr val="tx1"/>
                </a:solidFill>
                <a:effectLst/>
                <a:latin typeface="+mn-lt"/>
                <a:ea typeface="+mn-ea"/>
                <a:cs typeface="+mn-cs"/>
                <a:hlinkClick r:id="rId3"/>
              </a:rPr>
              <a:t>Docker</a:t>
            </a:r>
            <a:r>
              <a:rPr lang="ru-RU" sz="1200" b="0" i="0" kern="1200" dirty="0">
                <a:solidFill>
                  <a:schemeClr val="tx1"/>
                </a:solidFill>
                <a:effectLst/>
                <a:latin typeface="+mn-lt"/>
                <a:ea typeface="+mn-ea"/>
                <a:cs typeface="+mn-cs"/>
              </a:rPr>
              <a:t> и другие лидеры отрасли в рамках проекта </a:t>
            </a:r>
            <a:r>
              <a:rPr lang="ru-RU" sz="1200" b="0" i="0" u="none" strike="noStrike" kern="1200" dirty="0" err="1">
                <a:solidFill>
                  <a:schemeClr val="tx1"/>
                </a:solidFill>
                <a:effectLst/>
                <a:latin typeface="+mn-lt"/>
                <a:ea typeface="+mn-ea"/>
                <a:cs typeface="+mn-cs"/>
                <a:hlinkClick r:id="rId4"/>
              </a:rPr>
              <a:t>Open</a:t>
            </a:r>
            <a:r>
              <a:rPr lang="ru-RU" sz="1200" b="0" i="0" u="none" strike="noStrike" kern="1200" dirty="0">
                <a:solidFill>
                  <a:schemeClr val="tx1"/>
                </a:solidFill>
                <a:effectLst/>
                <a:latin typeface="+mn-lt"/>
                <a:ea typeface="+mn-ea"/>
                <a:cs typeface="+mn-cs"/>
                <a:hlinkClick r:id="rId4"/>
              </a:rPr>
              <a:t> </a:t>
            </a:r>
            <a:r>
              <a:rPr lang="ru-RU" sz="1200" b="0" i="0" u="none" strike="noStrike" kern="1200" dirty="0" err="1">
                <a:solidFill>
                  <a:schemeClr val="tx1"/>
                </a:solidFill>
                <a:effectLst/>
                <a:latin typeface="+mn-lt"/>
                <a:ea typeface="+mn-ea"/>
                <a:cs typeface="+mn-cs"/>
                <a:hlinkClick r:id="rId4"/>
              </a:rPr>
              <a:t>Container</a:t>
            </a:r>
            <a:r>
              <a:rPr lang="ru-RU" sz="1200" b="0" i="0" u="none" strike="noStrike" kern="1200" dirty="0">
                <a:solidFill>
                  <a:schemeClr val="tx1"/>
                </a:solidFill>
                <a:effectLst/>
                <a:latin typeface="+mn-lt"/>
                <a:ea typeface="+mn-ea"/>
                <a:cs typeface="+mn-cs"/>
                <a:hlinkClick r:id="rId4"/>
              </a:rPr>
              <a:t> </a:t>
            </a:r>
            <a:r>
              <a:rPr lang="ru-RU" sz="1200" b="0" i="0" u="none" strike="noStrike" kern="1200" dirty="0" err="1">
                <a:solidFill>
                  <a:schemeClr val="tx1"/>
                </a:solidFill>
                <a:effectLst/>
                <a:latin typeface="+mn-lt"/>
                <a:ea typeface="+mn-ea"/>
                <a:cs typeface="+mn-cs"/>
                <a:hlinkClick r:id="rId4"/>
              </a:rPr>
              <a:t>Initiative</a:t>
            </a:r>
            <a:r>
              <a:rPr lang="ru-RU" sz="1200" b="0" i="0" u="none" strike="noStrike" kern="1200" dirty="0">
                <a:solidFill>
                  <a:schemeClr val="tx1"/>
                </a:solidFill>
                <a:effectLst/>
                <a:latin typeface="+mn-lt"/>
                <a:ea typeface="+mn-ea"/>
                <a:cs typeface="+mn-cs"/>
                <a:hlinkClick r:id="rId4"/>
              </a:rPr>
              <a:t> (OCI)</a:t>
            </a:r>
            <a:r>
              <a:rPr lang="ru-RU" sz="1200" b="0" i="0" kern="1200" dirty="0">
                <a:solidFill>
                  <a:schemeClr val="tx1"/>
                </a:solidFill>
                <a:effectLst/>
                <a:latin typeface="+mn-lt"/>
                <a:ea typeface="+mn-ea"/>
                <a:cs typeface="+mn-cs"/>
              </a:rPr>
              <a:t> разработали стандарты упаковки программного кода в контейнеры.</a:t>
            </a:r>
            <a:r>
              <a:rPr lang="ru-RU" dirty="0"/>
              <a:t> Сейчас упоминание Докера прочно связано с средством контейнеризации</a:t>
            </a:r>
            <a:r>
              <a:rPr lang="en-US" dirty="0"/>
              <a:t>. </a:t>
            </a:r>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2</a:t>
            </a:fld>
            <a:endParaRPr lang="ru-RU"/>
          </a:p>
        </p:txBody>
      </p:sp>
    </p:spTree>
    <p:extLst>
      <p:ext uri="{BB962C8B-B14F-4D97-AF65-F5344CB8AC3E}">
        <p14:creationId xmlns:p14="http://schemas.microsoft.com/office/powerpoint/2010/main" val="3195692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Контейнеризация — метод, с помощью которого программный код упаковывается в единый исполняемый файл вместе с библиотеками и зависимостями, чтобы обеспечить его корректный запуск. Такие файлы называют контейнерами. </a:t>
            </a:r>
          </a:p>
          <a:p>
            <a:r>
              <a:rPr lang="ru-RU" sz="1200" b="0" i="0" kern="1200" dirty="0">
                <a:solidFill>
                  <a:schemeClr val="tx1"/>
                </a:solidFill>
                <a:effectLst/>
                <a:latin typeface="+mn-lt"/>
                <a:ea typeface="+mn-ea"/>
                <a:cs typeface="+mn-cs"/>
              </a:rPr>
              <a:t>Интерес к решениям на основе контейнеров и их широкое использование привело к тому, что в 2015 году компания </a:t>
            </a:r>
            <a:r>
              <a:rPr lang="ru-RU" sz="1200" b="0" i="0" u="none" strike="noStrike" kern="1200" dirty="0" err="1">
                <a:solidFill>
                  <a:schemeClr val="tx1"/>
                </a:solidFill>
                <a:effectLst/>
                <a:latin typeface="+mn-lt"/>
                <a:ea typeface="+mn-ea"/>
                <a:cs typeface="+mn-cs"/>
                <a:hlinkClick r:id="rId3"/>
              </a:rPr>
              <a:t>Docker</a:t>
            </a:r>
            <a:r>
              <a:rPr lang="ru-RU" sz="1200" b="0" i="0" kern="1200" dirty="0">
                <a:solidFill>
                  <a:schemeClr val="tx1"/>
                </a:solidFill>
                <a:effectLst/>
                <a:latin typeface="+mn-lt"/>
                <a:ea typeface="+mn-ea"/>
                <a:cs typeface="+mn-cs"/>
              </a:rPr>
              <a:t> и другие лидеры отрасли в рамках проекта </a:t>
            </a:r>
            <a:r>
              <a:rPr lang="ru-RU" sz="1200" b="0" i="0" u="none" strike="noStrike" kern="1200" dirty="0" err="1">
                <a:solidFill>
                  <a:schemeClr val="tx1"/>
                </a:solidFill>
                <a:effectLst/>
                <a:latin typeface="+mn-lt"/>
                <a:ea typeface="+mn-ea"/>
                <a:cs typeface="+mn-cs"/>
                <a:hlinkClick r:id="rId4"/>
              </a:rPr>
              <a:t>Open</a:t>
            </a:r>
            <a:r>
              <a:rPr lang="ru-RU" sz="1200" b="0" i="0" u="none" strike="noStrike" kern="1200" dirty="0">
                <a:solidFill>
                  <a:schemeClr val="tx1"/>
                </a:solidFill>
                <a:effectLst/>
                <a:latin typeface="+mn-lt"/>
                <a:ea typeface="+mn-ea"/>
                <a:cs typeface="+mn-cs"/>
                <a:hlinkClick r:id="rId4"/>
              </a:rPr>
              <a:t> </a:t>
            </a:r>
            <a:r>
              <a:rPr lang="ru-RU" sz="1200" b="0" i="0" u="none" strike="noStrike" kern="1200" dirty="0" err="1">
                <a:solidFill>
                  <a:schemeClr val="tx1"/>
                </a:solidFill>
                <a:effectLst/>
                <a:latin typeface="+mn-lt"/>
                <a:ea typeface="+mn-ea"/>
                <a:cs typeface="+mn-cs"/>
                <a:hlinkClick r:id="rId4"/>
              </a:rPr>
              <a:t>Container</a:t>
            </a:r>
            <a:r>
              <a:rPr lang="ru-RU" sz="1200" b="0" i="0" u="none" strike="noStrike" kern="1200" dirty="0">
                <a:solidFill>
                  <a:schemeClr val="tx1"/>
                </a:solidFill>
                <a:effectLst/>
                <a:latin typeface="+mn-lt"/>
                <a:ea typeface="+mn-ea"/>
                <a:cs typeface="+mn-cs"/>
                <a:hlinkClick r:id="rId4"/>
              </a:rPr>
              <a:t> </a:t>
            </a:r>
            <a:r>
              <a:rPr lang="ru-RU" sz="1200" b="0" i="0" u="none" strike="noStrike" kern="1200" dirty="0" err="1">
                <a:solidFill>
                  <a:schemeClr val="tx1"/>
                </a:solidFill>
                <a:effectLst/>
                <a:latin typeface="+mn-lt"/>
                <a:ea typeface="+mn-ea"/>
                <a:cs typeface="+mn-cs"/>
                <a:hlinkClick r:id="rId4"/>
              </a:rPr>
              <a:t>Initiative</a:t>
            </a:r>
            <a:r>
              <a:rPr lang="ru-RU" sz="1200" b="0" i="0" u="none" strike="noStrike" kern="1200" dirty="0">
                <a:solidFill>
                  <a:schemeClr val="tx1"/>
                </a:solidFill>
                <a:effectLst/>
                <a:latin typeface="+mn-lt"/>
                <a:ea typeface="+mn-ea"/>
                <a:cs typeface="+mn-cs"/>
                <a:hlinkClick r:id="rId4"/>
              </a:rPr>
              <a:t> (OCI)</a:t>
            </a:r>
            <a:r>
              <a:rPr lang="ru-RU" sz="1200" b="0" i="0" kern="1200" dirty="0">
                <a:solidFill>
                  <a:schemeClr val="tx1"/>
                </a:solidFill>
                <a:effectLst/>
                <a:latin typeface="+mn-lt"/>
                <a:ea typeface="+mn-ea"/>
                <a:cs typeface="+mn-cs"/>
              </a:rPr>
              <a:t> разработали стандарты упаковки программного кода в контейнеры.</a:t>
            </a:r>
            <a:r>
              <a:rPr lang="ru-RU" dirty="0"/>
              <a:t> Сейчас упоминание Докера прочно связано с средством контейнеризации</a:t>
            </a:r>
            <a:r>
              <a:rPr lang="en-US" dirty="0"/>
              <a:t>. </a:t>
            </a:r>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3</a:t>
            </a:fld>
            <a:endParaRPr lang="ru-RU"/>
          </a:p>
        </p:txBody>
      </p:sp>
    </p:spTree>
    <p:extLst>
      <p:ext uri="{BB962C8B-B14F-4D97-AF65-F5344CB8AC3E}">
        <p14:creationId xmlns:p14="http://schemas.microsoft.com/office/powerpoint/2010/main" val="777243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По функциональным особенностям и назначению контейнеры схожи с виртуальными машинами. Но есть и некоторые различия.</a:t>
            </a:r>
          </a:p>
          <a:p>
            <a:r>
              <a:rPr lang="ru-RU" sz="1200" b="0" i="0" kern="1200" dirty="0">
                <a:solidFill>
                  <a:schemeClr val="tx1"/>
                </a:solidFill>
                <a:effectLst/>
                <a:latin typeface="+mn-lt"/>
                <a:ea typeface="+mn-ea"/>
                <a:cs typeface="+mn-cs"/>
              </a:rPr>
              <a:t>На слайде представлено сравнение виртуальной машины, виртуальной машины на гипервизоре (например, </a:t>
            </a:r>
            <a:r>
              <a:rPr lang="en-US" sz="1200" b="0" i="0" kern="1200" dirty="0" err="1">
                <a:solidFill>
                  <a:schemeClr val="tx1"/>
                </a:solidFill>
                <a:effectLst/>
                <a:latin typeface="+mn-lt"/>
                <a:ea typeface="+mn-ea"/>
                <a:cs typeface="+mn-cs"/>
              </a:rPr>
              <a:t>esxi</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и контейнеризация</a:t>
            </a:r>
          </a:p>
          <a:p>
            <a:r>
              <a:rPr lang="ru-RU" sz="1200" b="0" i="0" kern="1200" dirty="0">
                <a:solidFill>
                  <a:schemeClr val="tx1"/>
                </a:solidFill>
                <a:effectLst/>
                <a:latin typeface="+mn-lt"/>
                <a:ea typeface="+mn-ea"/>
                <a:cs typeface="+mn-cs"/>
              </a:rPr>
              <a:t>Виртуальная машина (ВМ) — операционная система (ОС), которая развернута внутри другой операционной системы. ВМ имеет свое ядро и некоторые обособленные ресурсы.</a:t>
            </a:r>
          </a:p>
          <a:p>
            <a:r>
              <a:rPr lang="ru-RU" sz="1200" b="0" i="0" kern="1200" dirty="0">
                <a:solidFill>
                  <a:schemeClr val="tx1"/>
                </a:solidFill>
                <a:effectLst/>
                <a:latin typeface="+mn-lt"/>
                <a:ea typeface="+mn-ea"/>
                <a:cs typeface="+mn-cs"/>
              </a:rPr>
              <a:t>Контейнеры — это модули, в каждом из которых запускается одно приложение. Они занимают меньше памяти, используют небольшое количество ресурсов и почти не зависят от операционной системы кластера.</a:t>
            </a:r>
          </a:p>
          <a:p>
            <a:r>
              <a:rPr lang="ru-RU" sz="1200" b="0" i="0" kern="1200" dirty="0">
                <a:solidFill>
                  <a:schemeClr val="tx1"/>
                </a:solidFill>
                <a:effectLst/>
                <a:latin typeface="+mn-lt"/>
                <a:ea typeface="+mn-ea"/>
                <a:cs typeface="+mn-cs"/>
              </a:rPr>
              <a:t>На одинаковом оборудовании можно запустить большое количество контейнеров, тогда как ВМ будет в разы меньше. Это важно при использовании облачной инфраструктуры — потребуется меньше ресурсов.</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5</a:t>
            </a:fld>
            <a:endParaRPr lang="ru-RU"/>
          </a:p>
        </p:txBody>
      </p:sp>
    </p:spTree>
    <p:extLst>
      <p:ext uri="{BB962C8B-B14F-4D97-AF65-F5344CB8AC3E}">
        <p14:creationId xmlns:p14="http://schemas.microsoft.com/office/powerpoint/2010/main" val="1505009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err="1"/>
              <a:t>Docker</a:t>
            </a:r>
            <a:r>
              <a:rPr lang="ru-RU" dirty="0"/>
              <a:t> — это платформа с открытым исходным кодом, которая позволяет разработчикам создавать, развертывать, запускать, обновлять и управлять контейнерами — стандартизированными исполняемыми компонентами, объединяющими исходный код приложения с библиотеками операционной системы (ОС) и зависимостями, необходимыми для запуска этого кода в любой среде.</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7</a:t>
            </a:fld>
            <a:endParaRPr lang="ru-RU"/>
          </a:p>
        </p:txBody>
      </p:sp>
    </p:spTree>
    <p:extLst>
      <p:ext uri="{BB962C8B-B14F-4D97-AF65-F5344CB8AC3E}">
        <p14:creationId xmlns:p14="http://schemas.microsoft.com/office/powerpoint/2010/main" val="2297847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Так что же это такое?</a:t>
            </a:r>
          </a:p>
          <a:p>
            <a:r>
              <a:rPr lang="ru-RU" dirty="0" err="1"/>
              <a:t>Kubernetes</a:t>
            </a:r>
            <a:r>
              <a:rPr lang="ru-RU" dirty="0"/>
              <a:t> - операционная система для облачных решений, представляющая собой открытую платформу для управления кластерами контейнерных приложений и сервисов. Это решение было разработано инженерами </a:t>
            </a:r>
            <a:r>
              <a:rPr lang="ru-RU" dirty="0" err="1"/>
              <a:t>Google</a:t>
            </a:r>
            <a:r>
              <a:rPr lang="ru-RU" dirty="0"/>
              <a:t> - Джо Бедой, </a:t>
            </a:r>
            <a:r>
              <a:rPr lang="ru-RU" dirty="0" err="1"/>
              <a:t>Бренданом</a:t>
            </a:r>
            <a:r>
              <a:rPr lang="ru-RU" dirty="0"/>
              <a:t> Бернсом и </a:t>
            </a:r>
            <a:r>
              <a:rPr lang="ru-RU" dirty="0" err="1"/>
              <a:t>Крейгом</a:t>
            </a:r>
            <a:r>
              <a:rPr lang="ru-RU" dirty="0"/>
              <a:t> Мак-Лаки в 2014 году и вскоре после этого было выпущено с открытым исходным кодом. С тех пор </a:t>
            </a:r>
            <a:r>
              <a:rPr lang="ru-RU" dirty="0" err="1"/>
              <a:t>Kubernetes</a:t>
            </a:r>
            <a:r>
              <a:rPr lang="ru-RU" dirty="0"/>
              <a:t> быстро стал самостоятельной и активно развивающейся экосистемой "</a:t>
            </a:r>
            <a:r>
              <a:rPr lang="ru-RU" dirty="0" err="1"/>
              <a:t>Cloud</a:t>
            </a:r>
            <a:r>
              <a:rPr lang="ru-RU" dirty="0"/>
              <a:t> </a:t>
            </a:r>
            <a:r>
              <a:rPr lang="ru-RU" dirty="0" err="1"/>
              <a:t>Native</a:t>
            </a:r>
            <a:r>
              <a:rPr lang="ru-RU" dirty="0"/>
              <a:t>". В настоящее время управление </a:t>
            </a:r>
            <a:r>
              <a:rPr lang="ru-RU" dirty="0" err="1"/>
              <a:t>Kubernetes</a:t>
            </a:r>
            <a:r>
              <a:rPr lang="ru-RU" dirty="0"/>
              <a:t> осуществляется "</a:t>
            </a:r>
            <a:r>
              <a:rPr lang="ru-RU" dirty="0" err="1"/>
              <a:t>Cloud</a:t>
            </a:r>
            <a:r>
              <a:rPr lang="ru-RU" dirty="0"/>
              <a:t> </a:t>
            </a:r>
            <a:r>
              <a:rPr lang="ru-RU" dirty="0" err="1"/>
              <a:t>Native</a:t>
            </a:r>
            <a:r>
              <a:rPr lang="ru-RU" dirty="0"/>
              <a:t> </a:t>
            </a:r>
            <a:r>
              <a:rPr lang="ru-RU" dirty="0" err="1"/>
              <a:t>Computing</a:t>
            </a:r>
            <a:r>
              <a:rPr lang="ru-RU" dirty="0"/>
              <a:t> </a:t>
            </a:r>
            <a:r>
              <a:rPr lang="ru-RU" dirty="0" err="1"/>
              <a:t>Foundation</a:t>
            </a:r>
            <a:r>
              <a:rPr lang="ru-RU" dirty="0"/>
              <a:t>" (CNCF), подразделением </a:t>
            </a:r>
            <a:r>
              <a:rPr lang="ru-RU" dirty="0" err="1"/>
              <a:t>Linux</a:t>
            </a:r>
            <a:r>
              <a:rPr lang="ru-RU" dirty="0"/>
              <a:t> </a:t>
            </a:r>
            <a:r>
              <a:rPr lang="ru-RU" dirty="0" err="1"/>
              <a:t>Foundation</a:t>
            </a:r>
            <a:r>
              <a:rPr lang="ru-RU" dirty="0"/>
              <a:t>.</a:t>
            </a:r>
          </a:p>
          <a:p>
            <a:r>
              <a:rPr lang="ru-RU" dirty="0" err="1"/>
              <a:t>Kubernetes</a:t>
            </a:r>
            <a:r>
              <a:rPr lang="ru-RU" dirty="0"/>
              <a:t> стал первым выпускным проектом CNCF и одним из самых быстрорастущих проектов с открытым исходным кодом в истории. Более 2300 участников работают над </a:t>
            </a:r>
            <a:r>
              <a:rPr lang="ru-RU" dirty="0" err="1"/>
              <a:t>Kubernetes</a:t>
            </a:r>
            <a:r>
              <a:rPr lang="ru-RU" dirty="0"/>
              <a:t>, и оно широко используется как крупными, так и малыми компаниями, включая половину </a:t>
            </a:r>
            <a:r>
              <a:rPr lang="ru-RU" dirty="0" err="1"/>
              <a:t>Fortune</a:t>
            </a:r>
            <a:r>
              <a:rPr lang="ru-RU" dirty="0"/>
              <a:t> 100.</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8</a:t>
            </a:fld>
            <a:endParaRPr lang="ru-RU"/>
          </a:p>
        </p:txBody>
      </p:sp>
    </p:spTree>
    <p:extLst>
      <p:ext uri="{BB962C8B-B14F-4D97-AF65-F5344CB8AC3E}">
        <p14:creationId xmlns:p14="http://schemas.microsoft.com/office/powerpoint/2010/main" val="911138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Контейнеры — хороший способ объединить и запустить ваши приложения. В производственной среде вам необходимо управлять контейнерами, в которых выполняются приложения, и обеспечивать отсутствие простоев. Например, если контейнер выходит из строя, необходимо запустить другой контейнер. Не было бы проще, если бы такое поведение обрабатывалось системой?</a:t>
            </a:r>
          </a:p>
          <a:p>
            <a:r>
              <a:rPr lang="ru-RU" dirty="0"/>
              <a:t>Вот тут-то на помощь и приходит </a:t>
            </a:r>
            <a:r>
              <a:rPr lang="ru-RU" dirty="0" err="1"/>
              <a:t>Kubernetes</a:t>
            </a:r>
            <a:r>
              <a:rPr lang="ru-RU" dirty="0"/>
              <a:t>! </a:t>
            </a:r>
            <a:r>
              <a:rPr lang="ru-RU" dirty="0" err="1"/>
              <a:t>Kubernetes</a:t>
            </a:r>
            <a:r>
              <a:rPr lang="ru-RU" dirty="0"/>
              <a:t> предоставляет вам платформу для устойчивой работы распределенных систем. Он обеспечивает масштабирование и аварийное переключение вашего приложения, предоставляет шаблоны развертывания и многое другое. Например: </a:t>
            </a:r>
            <a:r>
              <a:rPr lang="ru-RU" dirty="0" err="1"/>
              <a:t>Kubernetes</a:t>
            </a:r>
            <a:r>
              <a:rPr lang="ru-RU" dirty="0"/>
              <a:t> может легко управлять канареечным развертыванием вашей системы. При канареечном развертывании переключение происходит постепенно, начиная с части пользователей.</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9</a:t>
            </a:fld>
            <a:endParaRPr lang="ru-RU"/>
          </a:p>
        </p:txBody>
      </p:sp>
    </p:spTree>
    <p:extLst>
      <p:ext uri="{BB962C8B-B14F-4D97-AF65-F5344CB8AC3E}">
        <p14:creationId xmlns:p14="http://schemas.microsoft.com/office/powerpoint/2010/main" val="885139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i="1" dirty="0"/>
              <a:t>Обнаружение служб и балансировка нагрузки</a:t>
            </a:r>
            <a:endParaRPr lang="ru-RU" dirty="0"/>
          </a:p>
          <a:p>
            <a:r>
              <a:rPr lang="ru-RU" dirty="0" err="1"/>
              <a:t>Kubernetes</a:t>
            </a:r>
            <a:r>
              <a:rPr lang="ru-RU" dirty="0"/>
              <a:t> может предоставлять контейнер, используя DNS-имя или собственный IP-адрес. Если трафик в контейнере высокий, </a:t>
            </a:r>
            <a:r>
              <a:rPr lang="ru-RU" dirty="0" err="1"/>
              <a:t>Kubernetes</a:t>
            </a:r>
            <a:r>
              <a:rPr lang="ru-RU" dirty="0"/>
              <a:t> может балансировать нагрузку и распределять сетевой трафик, чтобы развертывание было стабильным.</a:t>
            </a:r>
          </a:p>
          <a:p>
            <a:r>
              <a:rPr lang="ru-RU" b="1" i="1" dirty="0" err="1"/>
              <a:t>Оркестрация</a:t>
            </a:r>
            <a:r>
              <a:rPr lang="ru-RU" b="1" i="1" dirty="0"/>
              <a:t> хранилища</a:t>
            </a:r>
            <a:endParaRPr lang="ru-RU" dirty="0"/>
          </a:p>
          <a:p>
            <a:r>
              <a:rPr lang="ru-RU" dirty="0" err="1"/>
              <a:t>Kubernetes</a:t>
            </a:r>
            <a:r>
              <a:rPr lang="ru-RU" dirty="0"/>
              <a:t> позволяет автоматически монтировать систему хранения по вашему выбору, например локальные хранилища, общедоступные облака и т. д.</a:t>
            </a:r>
          </a:p>
          <a:p>
            <a:r>
              <a:rPr lang="ru-RU" b="1" i="1" dirty="0"/>
              <a:t>Автоматизированное развертывание и откат</a:t>
            </a:r>
            <a:endParaRPr lang="ru-RU" dirty="0"/>
          </a:p>
          <a:p>
            <a:r>
              <a:rPr lang="ru-RU" dirty="0"/>
              <a:t>Вы можете описать желаемое состояние развернутых контейнеров с помощью </a:t>
            </a:r>
            <a:r>
              <a:rPr lang="ru-RU" dirty="0" err="1"/>
              <a:t>Kubernetes</a:t>
            </a:r>
            <a:r>
              <a:rPr lang="ru-RU" dirty="0"/>
              <a:t>, и он может изменить фактическое состояние на желаемое с контролируемой скоростью. Например, вы можете автоматизировать </a:t>
            </a:r>
            <a:r>
              <a:rPr lang="ru-RU" dirty="0" err="1"/>
              <a:t>Kubernetes</a:t>
            </a:r>
            <a:r>
              <a:rPr lang="ru-RU" dirty="0"/>
              <a:t> для создания новых контейнеров для вашего развертывания, удаления существующих контейнеров и переноса всех их ресурсов в новый контейнер.</a:t>
            </a:r>
          </a:p>
          <a:p>
            <a:r>
              <a:rPr lang="ru-RU" b="1" i="1" dirty="0"/>
              <a:t>Автоматическая упаковка контейнеров</a:t>
            </a:r>
            <a:endParaRPr lang="ru-RU" dirty="0"/>
          </a:p>
          <a:p>
            <a:r>
              <a:rPr lang="ru-RU" dirty="0"/>
              <a:t>Вы предоставляете </a:t>
            </a:r>
            <a:r>
              <a:rPr lang="ru-RU" dirty="0" err="1"/>
              <a:t>Kubernetes</a:t>
            </a:r>
            <a:r>
              <a:rPr lang="ru-RU" dirty="0"/>
              <a:t> кластер узлов, которые он может использовать для выполнения контейнерных задач. Вы сообщаете </a:t>
            </a:r>
            <a:r>
              <a:rPr lang="ru-RU" dirty="0" err="1"/>
              <a:t>Kubernetes</a:t>
            </a:r>
            <a:r>
              <a:rPr lang="ru-RU" dirty="0"/>
              <a:t>, сколько процессора и памяти (ОЗУ) требуется каждому контейнеру. </a:t>
            </a:r>
            <a:r>
              <a:rPr lang="ru-RU" dirty="0" err="1"/>
              <a:t>Kubernetes</a:t>
            </a:r>
            <a:r>
              <a:rPr lang="ru-RU" dirty="0"/>
              <a:t> может разместить контейнеры на ваших узлах, чтобы максимально эффективно использовать ваши ресурсы.</a:t>
            </a:r>
          </a:p>
          <a:p>
            <a:r>
              <a:rPr lang="ru-RU" b="1" i="1" dirty="0"/>
              <a:t>Самовосстановление</a:t>
            </a:r>
            <a:endParaRPr lang="ru-RU" dirty="0"/>
          </a:p>
          <a:p>
            <a:r>
              <a:rPr lang="ru-RU" dirty="0" err="1"/>
              <a:t>Kubernetes</a:t>
            </a:r>
            <a:r>
              <a:rPr lang="ru-RU" dirty="0"/>
              <a:t> перезапускает контейнеры, которые вышли из строя, заменяет контейнеры, уничтожает контейнеры, которые не отвечают на заданную пользователем проверку работоспособности, и не объявляет о них клиентам, пока они не будут готовы к работе.</a:t>
            </a:r>
          </a:p>
          <a:p>
            <a:r>
              <a:rPr lang="ru-RU" b="1" i="1" dirty="0"/>
              <a:t>Управление секретами и конфигурациями</a:t>
            </a:r>
            <a:endParaRPr lang="ru-RU" dirty="0"/>
          </a:p>
          <a:p>
            <a:r>
              <a:rPr lang="ru-RU" dirty="0" err="1"/>
              <a:t>Kubernetes</a:t>
            </a:r>
            <a:r>
              <a:rPr lang="ru-RU" dirty="0"/>
              <a:t> позволяет хранить конфиденциальную информацию, такую как пароли, токены </a:t>
            </a:r>
            <a:r>
              <a:rPr lang="ru-RU" dirty="0" err="1"/>
              <a:t>OAuth</a:t>
            </a:r>
            <a:r>
              <a:rPr lang="ru-RU" dirty="0"/>
              <a:t> и ключи SSH, и управлять ею. Вы можете развертывать и обновлять секреты и конфигурацию приложения, не перестраивая образы контейнеров и не раскрывая секреты в конфигурации стека.</a:t>
            </a:r>
          </a:p>
          <a:p>
            <a:r>
              <a:rPr lang="ru-RU" b="1" i="1" dirty="0"/>
              <a:t>Пакетное выполнение</a:t>
            </a:r>
            <a:endParaRPr lang="ru-RU" dirty="0"/>
          </a:p>
          <a:p>
            <a:r>
              <a:rPr lang="ru-RU" dirty="0"/>
              <a:t>Помимо сервисов, </a:t>
            </a:r>
            <a:r>
              <a:rPr lang="ru-RU" dirty="0" err="1"/>
              <a:t>Kubernetes</a:t>
            </a:r>
            <a:r>
              <a:rPr lang="ru-RU" dirty="0"/>
              <a:t> может управлять вашими пакетными и CI-рабочими нагрузками, при желании заменяя вышедшие из строя контейнеры.</a:t>
            </a:r>
          </a:p>
          <a:p>
            <a:r>
              <a:rPr lang="ru-RU" b="1" i="1" dirty="0"/>
              <a:t>Горизонтальное масштабирование</a:t>
            </a:r>
            <a:endParaRPr lang="ru-RU" dirty="0"/>
          </a:p>
          <a:p>
            <a:r>
              <a:rPr lang="ru-RU" dirty="0"/>
              <a:t>Масштабируйте свое приложение вверх и вниз с помощью простой команды, с помощью пользовательского интерфейса или автоматически в зависимости от загрузки ЦП.</a:t>
            </a:r>
          </a:p>
          <a:p>
            <a:r>
              <a:rPr lang="ru-RU" b="1" i="1" dirty="0"/>
              <a:t>Двойной стек IPv4/IPv6</a:t>
            </a:r>
            <a:endParaRPr lang="ru-RU" dirty="0"/>
          </a:p>
          <a:p>
            <a:r>
              <a:rPr lang="ru-RU" dirty="0"/>
              <a:t>Выделение адресов IPv4 и IPv6 модулям и службам.</a:t>
            </a:r>
          </a:p>
          <a:p>
            <a:r>
              <a:rPr lang="ru-RU" b="1" i="1" dirty="0"/>
              <a:t>Расширяемость</a:t>
            </a:r>
            <a:endParaRPr lang="ru-RU" dirty="0"/>
          </a:p>
          <a:p>
            <a:r>
              <a:rPr lang="ru-RU" dirty="0"/>
              <a:t>Добавляйте функции в свой кластер </a:t>
            </a:r>
            <a:r>
              <a:rPr lang="ru-RU" dirty="0" err="1"/>
              <a:t>Kubernetes</a:t>
            </a:r>
            <a:r>
              <a:rPr lang="ru-RU" dirty="0"/>
              <a:t>, не меняя исходного кода.</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10</a:t>
            </a:fld>
            <a:endParaRPr lang="ru-RU"/>
          </a:p>
        </p:txBody>
      </p:sp>
    </p:spTree>
    <p:extLst>
      <p:ext uri="{BB962C8B-B14F-4D97-AF65-F5344CB8AC3E}">
        <p14:creationId xmlns:p14="http://schemas.microsoft.com/office/powerpoint/2010/main" val="949321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Не ограничивает типы поддерживаемых приложений. </a:t>
            </a:r>
            <a:r>
              <a:rPr lang="ru-RU" dirty="0" err="1"/>
              <a:t>Kubernetes</a:t>
            </a:r>
            <a:r>
              <a:rPr lang="ru-RU" dirty="0"/>
              <a:t> стремится поддерживать различные виды рабочих нагрузок, включая рабочие нагрузки без сохранения состояния, с отслеживанием состояния и обработки данных. Если приложение может работать в контейнере, оно должно отлично работать и в </a:t>
            </a:r>
            <a:r>
              <a:rPr lang="ru-RU" dirty="0" err="1"/>
              <a:t>Kubernetes</a:t>
            </a:r>
            <a:r>
              <a:rPr lang="ru-RU" dirty="0"/>
              <a:t>.</a:t>
            </a:r>
          </a:p>
          <a:p>
            <a:r>
              <a:rPr lang="ru-RU" dirty="0"/>
              <a:t>Не развертывает исходный код и не собирает ваше приложение. Рабочие процессы непрерывной интеграции, доставки и развертывания (CI/CD) предпочтениями организации, а также техническими требованиями.</a:t>
            </a:r>
          </a:p>
          <a:p>
            <a:r>
              <a:rPr lang="ru-RU" dirty="0"/>
              <a:t>Не предоставляет службы уровня приложения, такие как промежуточное программное обеспечение (например, шины сообщений), платформы обработки данных (например, </a:t>
            </a:r>
            <a:r>
              <a:rPr lang="ru-RU" dirty="0" err="1"/>
              <a:t>Spark</a:t>
            </a:r>
            <a:r>
              <a:rPr lang="ru-RU" dirty="0"/>
              <a:t>), базы данных (например, </a:t>
            </a:r>
            <a:r>
              <a:rPr lang="ru-RU" dirty="0" err="1"/>
              <a:t>MySQL</a:t>
            </a:r>
            <a:r>
              <a:rPr lang="ru-RU" dirty="0"/>
              <a:t>), кэши или кластерные системы хранения (например, </a:t>
            </a:r>
            <a:r>
              <a:rPr lang="ru-RU" dirty="0" err="1"/>
              <a:t>Ceph</a:t>
            </a:r>
            <a:r>
              <a:rPr lang="ru-RU" dirty="0"/>
              <a:t>). как встроенные сервисы. Такие компоненты могут работать в </a:t>
            </a:r>
            <a:r>
              <a:rPr lang="ru-RU" dirty="0" err="1"/>
              <a:t>Kubernetes</a:t>
            </a:r>
            <a:r>
              <a:rPr lang="ru-RU" dirty="0"/>
              <a:t> и/или могут быть доступны приложениям, работающим в </a:t>
            </a:r>
            <a:r>
              <a:rPr lang="ru-RU" dirty="0" err="1"/>
              <a:t>Kubernetes</a:t>
            </a:r>
            <a:r>
              <a:rPr lang="ru-RU" dirty="0"/>
              <a:t>, через переносимые механизмы, такие как </a:t>
            </a:r>
            <a:r>
              <a:rPr lang="ru-RU" dirty="0" err="1"/>
              <a:t>Open</a:t>
            </a:r>
            <a:r>
              <a:rPr lang="ru-RU" dirty="0"/>
              <a:t> </a:t>
            </a:r>
            <a:r>
              <a:rPr lang="ru-RU" dirty="0" err="1"/>
              <a:t>Service</a:t>
            </a:r>
            <a:r>
              <a:rPr lang="ru-RU" dirty="0"/>
              <a:t> </a:t>
            </a:r>
            <a:r>
              <a:rPr lang="ru-RU" dirty="0" err="1"/>
              <a:t>Broker</a:t>
            </a:r>
            <a:r>
              <a:rPr lang="ru-RU" dirty="0"/>
              <a:t>.</a:t>
            </a:r>
          </a:p>
          <a:p>
            <a:r>
              <a:rPr lang="ru-RU" dirty="0"/>
              <a:t>Не диктует решения для ведения логирования, мониторинга или оповещения. Он обеспечивает некоторые интеграции концепции, а также механизмы для сбора и экспорта метрик.</a:t>
            </a:r>
          </a:p>
          <a:p>
            <a:r>
              <a:rPr lang="ru-RU" dirty="0"/>
              <a:t>Не предоставляет и не требует использования языка/системы конфигурации (например, </a:t>
            </a:r>
            <a:r>
              <a:rPr lang="ru-RU" dirty="0" err="1"/>
              <a:t>Jsonnet</a:t>
            </a:r>
            <a:r>
              <a:rPr lang="ru-RU" dirty="0"/>
              <a:t>). Он предоставляет декларативный API, на который могут быть нацелены произвольные формы декларативных спецификаций.</a:t>
            </a:r>
          </a:p>
          <a:p>
            <a:r>
              <a:rPr lang="ru-RU" dirty="0"/>
              <a:t>Не предоставляет и не применяет какие-либо комплексные системы конфигурации, обслуживания, управления или самовосстановления машины.</a:t>
            </a:r>
          </a:p>
          <a:p>
            <a:r>
              <a:rPr lang="ru-RU" dirty="0"/>
              <a:t>Кроме того, </a:t>
            </a:r>
            <a:r>
              <a:rPr lang="ru-RU" dirty="0" err="1"/>
              <a:t>Kubernetes</a:t>
            </a:r>
            <a:r>
              <a:rPr lang="ru-RU" dirty="0"/>
              <a:t> — это не просто система оркестровки. Фактически, он устраняет необходимость в оркестровке. Техническое определение </a:t>
            </a:r>
            <a:r>
              <a:rPr lang="ru-RU" dirty="0" err="1"/>
              <a:t>оркестрации</a:t>
            </a:r>
            <a:r>
              <a:rPr lang="ru-RU" dirty="0"/>
              <a:t> — это выполнение определенного рабочего процесса: сначала выполните A, затем B, затем C. Напротив, </a:t>
            </a:r>
            <a:r>
              <a:rPr lang="ru-RU" dirty="0" err="1"/>
              <a:t>Kubernetes</a:t>
            </a:r>
            <a:r>
              <a:rPr lang="ru-RU" dirty="0"/>
              <a:t> включает в себя набор независимых, компонуемых процессов управления, которые непрерывно приводят текущее состояние к заданному желаемому состоянию. Неважно, как вы доберетесь от А до С. Централизованное управление также не требуется. В результате система становится проще в использовании, становится более мощной, надежной, отказоустойчивой и расширяемой.</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11</a:t>
            </a:fld>
            <a:endParaRPr lang="ru-RU"/>
          </a:p>
        </p:txBody>
      </p:sp>
    </p:spTree>
    <p:extLst>
      <p:ext uri="{BB962C8B-B14F-4D97-AF65-F5344CB8AC3E}">
        <p14:creationId xmlns:p14="http://schemas.microsoft.com/office/powerpoint/2010/main" val="664782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i="1" dirty="0"/>
              <a:t>Кластер</a:t>
            </a:r>
            <a:endParaRPr lang="ru-RU" dirty="0"/>
          </a:p>
          <a:p>
            <a:r>
              <a:rPr lang="ru-RU" dirty="0"/>
              <a:t>Развертывание </a:t>
            </a:r>
            <a:r>
              <a:rPr lang="ru-RU" dirty="0" err="1"/>
              <a:t>Kubernetes</a:t>
            </a:r>
            <a:r>
              <a:rPr lang="ru-RU" dirty="0"/>
              <a:t> — это, в первую очередь, поднятие кластера. В кластере обязательно есть хотя бы одна </a:t>
            </a:r>
            <a:r>
              <a:rPr lang="ru-RU" dirty="0" err="1"/>
              <a:t>нода</a:t>
            </a:r>
            <a:r>
              <a:rPr lang="ru-RU" dirty="0"/>
              <a:t>. Она состоит из набора машин, которые запускают контейнерные приложения. Обычно на одной </a:t>
            </a:r>
            <a:r>
              <a:rPr lang="ru-RU" dirty="0" err="1"/>
              <a:t>ноде</a:t>
            </a:r>
            <a:r>
              <a:rPr lang="ru-RU" dirty="0"/>
              <a:t> кластер не ограничивается, поскольку дополнительные </a:t>
            </a:r>
            <a:r>
              <a:rPr lang="ru-RU" dirty="0" err="1"/>
              <a:t>ноды</a:t>
            </a:r>
            <a:r>
              <a:rPr lang="ru-RU" dirty="0"/>
              <a:t> решают проблему </a:t>
            </a:r>
            <a:r>
              <a:rPr lang="ru-RU" dirty="0" err="1"/>
              <a:t>отказустойчивости</a:t>
            </a:r>
            <a:r>
              <a:rPr lang="ru-RU" dirty="0"/>
              <a:t>.</a:t>
            </a:r>
          </a:p>
          <a:p>
            <a:r>
              <a:rPr lang="ru-RU" b="1" i="1" dirty="0" err="1"/>
              <a:t>Nods</a:t>
            </a:r>
            <a:r>
              <a:rPr lang="ru-RU" b="1" i="1" dirty="0"/>
              <a:t> (узлы)</a:t>
            </a:r>
            <a:endParaRPr lang="ru-RU" dirty="0"/>
          </a:p>
          <a:p>
            <a:r>
              <a:rPr lang="ru-RU" dirty="0"/>
              <a:t>Это физические или виртуальные машины, на которых развертываются и запускаются контейнеры с приложениями. Каждый узел содержит сервисы, необходимые для запуска подов.</a:t>
            </a:r>
          </a:p>
          <a:p>
            <a:r>
              <a:rPr lang="ru-RU" dirty="0"/>
              <a:t>Обычно в кластере есть несколько узлов, но в среде обучения или среде с ограниченными ресурсами можно использовать один.</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12</a:t>
            </a:fld>
            <a:endParaRPr lang="ru-RU"/>
          </a:p>
        </p:txBody>
      </p:sp>
    </p:spTree>
    <p:extLst>
      <p:ext uri="{BB962C8B-B14F-4D97-AF65-F5344CB8AC3E}">
        <p14:creationId xmlns:p14="http://schemas.microsoft.com/office/powerpoint/2010/main" val="2731308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i="1" dirty="0" err="1"/>
              <a:t>Master</a:t>
            </a:r>
            <a:r>
              <a:rPr lang="ru-RU" i="1" dirty="0"/>
              <a:t> (мастер-</a:t>
            </a:r>
            <a:r>
              <a:rPr lang="ru-RU" i="1" dirty="0" err="1"/>
              <a:t>нода</a:t>
            </a:r>
            <a:r>
              <a:rPr lang="ru-RU" i="1" dirty="0"/>
              <a:t>)</a:t>
            </a:r>
            <a:endParaRPr lang="ru-RU" dirty="0"/>
          </a:p>
          <a:p>
            <a:r>
              <a:rPr lang="ru-RU" dirty="0"/>
              <a:t>Узел, управляющий всем кластером. Он следит за остальными </a:t>
            </a:r>
            <a:r>
              <a:rPr lang="ru-RU" dirty="0" err="1"/>
              <a:t>нодами</a:t>
            </a:r>
            <a:r>
              <a:rPr lang="ru-RU" dirty="0"/>
              <a:t> и распределяет между ними нагрузку с помощью менеджера контроллеров (</a:t>
            </a:r>
            <a:r>
              <a:rPr lang="ru-RU" dirty="0" err="1"/>
              <a:t>controller</a:t>
            </a:r>
            <a:r>
              <a:rPr lang="ru-RU" dirty="0"/>
              <a:t> </a:t>
            </a:r>
            <a:r>
              <a:rPr lang="ru-RU" dirty="0" err="1"/>
              <a:t>manager</a:t>
            </a:r>
            <a:r>
              <a:rPr lang="ru-RU" dirty="0"/>
              <a:t>) и планировщика (</a:t>
            </a:r>
            <a:r>
              <a:rPr lang="ru-RU" dirty="0" err="1"/>
              <a:t>scheduler</a:t>
            </a:r>
            <a:r>
              <a:rPr lang="ru-RU" dirty="0"/>
              <a:t>). Как правило, мастер-</a:t>
            </a:r>
            <a:r>
              <a:rPr lang="ru-RU" dirty="0" err="1"/>
              <a:t>нода</a:t>
            </a:r>
            <a:r>
              <a:rPr lang="ru-RU" dirty="0"/>
              <a:t> занимается только управлением и не берет на себя рабочие нагрузки. Для повышения отказоустойчивости существует несколько мастер-</a:t>
            </a:r>
            <a:r>
              <a:rPr lang="ru-RU" dirty="0" err="1"/>
              <a:t>нод</a:t>
            </a:r>
            <a:r>
              <a:rPr lang="ru-RU" dirty="0"/>
              <a:t>.</a:t>
            </a:r>
          </a:p>
          <a:p>
            <a:r>
              <a:rPr lang="ru-RU" b="1" i="1" dirty="0" err="1"/>
              <a:t>Worker</a:t>
            </a:r>
            <a:r>
              <a:rPr lang="ru-RU" i="1" dirty="0"/>
              <a:t> (рабочие </a:t>
            </a:r>
            <a:r>
              <a:rPr lang="ru-RU" i="1" dirty="0" err="1"/>
              <a:t>ноды</a:t>
            </a:r>
            <a:r>
              <a:rPr lang="ru-RU" i="1" dirty="0"/>
              <a:t>)</a:t>
            </a:r>
            <a:endParaRPr lang="ru-RU" dirty="0"/>
          </a:p>
          <a:p>
            <a:r>
              <a:rPr lang="ru-RU" dirty="0"/>
              <a:t>Узлы, на которых работают контейнеры. В зависимости от параметров </a:t>
            </a:r>
            <a:r>
              <a:rPr lang="ru-RU" dirty="0" err="1"/>
              <a:t>ноды</a:t>
            </a:r>
            <a:r>
              <a:rPr lang="ru-RU" dirty="0"/>
              <a:t> (объема памяти и центрального процессора) на одном узле может работать множество контейнеров. Чем больше рабочих узлов, тем больше приложений можно запустить. Также количество влияет на отказоустойчивость кластера, потому что при выходе из строя одной </a:t>
            </a:r>
            <a:r>
              <a:rPr lang="ru-RU" dirty="0" err="1"/>
              <a:t>ноды</a:t>
            </a:r>
            <a:r>
              <a:rPr lang="ru-RU" dirty="0"/>
              <a:t> нагрузка распределяется по оставшимся.</a:t>
            </a:r>
          </a:p>
          <a:p>
            <a:r>
              <a:rPr lang="ru-RU" dirty="0"/>
              <a:t>Работающий кластер </a:t>
            </a:r>
            <a:r>
              <a:rPr lang="ru-RU" dirty="0" err="1"/>
              <a:t>Kubernetes</a:t>
            </a:r>
            <a:r>
              <a:rPr lang="ru-RU" dirty="0"/>
              <a:t> включает в себя агента, запущенного на </a:t>
            </a:r>
            <a:r>
              <a:rPr lang="ru-RU" dirty="0" err="1"/>
              <a:t>нодах</a:t>
            </a:r>
            <a:r>
              <a:rPr lang="ru-RU" dirty="0"/>
              <a:t> (</a:t>
            </a:r>
            <a:r>
              <a:rPr lang="ru-RU" dirty="0" err="1"/>
              <a:t>kubelet</a:t>
            </a:r>
            <a:r>
              <a:rPr lang="ru-RU" dirty="0"/>
              <a:t>), и компоненты мастера (</a:t>
            </a:r>
            <a:r>
              <a:rPr lang="ru-RU" dirty="0" err="1"/>
              <a:t>APIs</a:t>
            </a:r>
            <a:r>
              <a:rPr lang="ru-RU" dirty="0"/>
              <a:t>, </a:t>
            </a:r>
            <a:r>
              <a:rPr lang="ru-RU" dirty="0" err="1"/>
              <a:t>scheduler</a:t>
            </a:r>
            <a:r>
              <a:rPr lang="ru-RU" dirty="0"/>
              <a:t>, </a:t>
            </a:r>
            <a:r>
              <a:rPr lang="ru-RU" dirty="0" err="1"/>
              <a:t>etc</a:t>
            </a:r>
            <a:r>
              <a:rPr lang="ru-RU" dirty="0"/>
              <a:t>), поверх решения с распределенным хранилищем.</a:t>
            </a:r>
          </a:p>
          <a:p>
            <a:endParaRPr lang="ru-RU" dirty="0"/>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14</a:t>
            </a:fld>
            <a:endParaRPr lang="ru-RU"/>
          </a:p>
        </p:txBody>
      </p:sp>
    </p:spTree>
    <p:extLst>
      <p:ext uri="{BB962C8B-B14F-4D97-AF65-F5344CB8AC3E}">
        <p14:creationId xmlns:p14="http://schemas.microsoft.com/office/powerpoint/2010/main" val="3786799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err="1"/>
              <a:t>Pod</a:t>
            </a:r>
            <a:r>
              <a:rPr lang="ru-RU" dirty="0"/>
              <a:t> определяется представлением запроса на запуск (</a:t>
            </a:r>
            <a:r>
              <a:rPr lang="ru-RU" dirty="0" err="1"/>
              <a:t>execute</a:t>
            </a:r>
            <a:r>
              <a:rPr lang="ru-RU" dirty="0"/>
              <a:t>) одного или более контейнеров на одном узле. Они разделяют доступ к таким ресурсам, как: тома хранилища и сетевой стек.</a:t>
            </a:r>
          </a:p>
          <a:p>
            <a:r>
              <a:rPr lang="ru-RU" dirty="0"/>
              <a:t>Поды считаются базовыми строительными блоками </a:t>
            </a:r>
            <a:r>
              <a:rPr lang="ru-RU" dirty="0" err="1"/>
              <a:t>Kubernetes</a:t>
            </a:r>
            <a:r>
              <a:rPr lang="ru-RU" dirty="0"/>
              <a:t>, поскольку все рабочие нагрузки в </a:t>
            </a:r>
            <a:r>
              <a:rPr lang="ru-RU" dirty="0" err="1"/>
              <a:t>Kubernetes</a:t>
            </a:r>
            <a:r>
              <a:rPr lang="ru-RU" dirty="0"/>
              <a:t> — например, </a:t>
            </a:r>
            <a:r>
              <a:rPr lang="ru-RU" dirty="0" err="1"/>
              <a:t>Deployments</a:t>
            </a:r>
            <a:r>
              <a:rPr lang="ru-RU" dirty="0"/>
              <a:t>, </a:t>
            </a:r>
            <a:r>
              <a:rPr lang="ru-RU" dirty="0" err="1"/>
              <a:t>ReplicaSets</a:t>
            </a:r>
            <a:r>
              <a:rPr lang="ru-RU" dirty="0"/>
              <a:t> и </a:t>
            </a:r>
            <a:r>
              <a:rPr lang="ru-RU" dirty="0" err="1"/>
              <a:t>Jobs</a:t>
            </a:r>
            <a:r>
              <a:rPr lang="ru-RU" dirty="0"/>
              <a:t> — могут быть выражены в виде </a:t>
            </a:r>
            <a:r>
              <a:rPr lang="ru-RU" dirty="0" err="1"/>
              <a:t>pods</a:t>
            </a:r>
            <a:r>
              <a:rPr lang="ru-RU" dirty="0"/>
              <a:t>. </a:t>
            </a:r>
            <a:r>
              <a:rPr lang="ru-RU" dirty="0" err="1"/>
              <a:t>Pod</a:t>
            </a:r>
            <a:r>
              <a:rPr lang="ru-RU" dirty="0"/>
              <a:t> — это единственный объект в </a:t>
            </a:r>
            <a:r>
              <a:rPr lang="ru-RU" dirty="0" err="1"/>
              <a:t>Kubernetes</a:t>
            </a:r>
            <a:r>
              <a:rPr lang="ru-RU" dirty="0"/>
              <a:t>, который приводит к запуску контейнеров. Нет пода — нет контейнера.</a:t>
            </a:r>
          </a:p>
          <a:p>
            <a:endParaRPr lang="ru-RU" dirty="0"/>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15</a:t>
            </a:fld>
            <a:endParaRPr lang="ru-RU"/>
          </a:p>
        </p:txBody>
      </p:sp>
    </p:spTree>
    <p:extLst>
      <p:ext uri="{BB962C8B-B14F-4D97-AF65-F5344CB8AC3E}">
        <p14:creationId xmlns:p14="http://schemas.microsoft.com/office/powerpoint/2010/main" val="1809102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16</a:t>
            </a:fld>
            <a:endParaRPr lang="ru-RU"/>
          </a:p>
        </p:txBody>
      </p:sp>
    </p:spTree>
    <p:extLst>
      <p:ext uri="{BB962C8B-B14F-4D97-AF65-F5344CB8AC3E}">
        <p14:creationId xmlns:p14="http://schemas.microsoft.com/office/powerpoint/2010/main" val="2042276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Архитектура похожа на контейнер докер, опирается на состояния, не содержит данных внутри себя и оперирует сущностями. Такой подход нас подводит к переходу на безопасность </a:t>
            </a:r>
            <a:r>
              <a:rPr lang="ru-RU" dirty="0" err="1"/>
              <a:t>микросервисной</a:t>
            </a:r>
            <a:r>
              <a:rPr lang="ru-RU" dirty="0"/>
              <a:t> архитектуры.</a:t>
            </a:r>
          </a:p>
          <a:p>
            <a:r>
              <a:rPr lang="ru-RU" sz="1200" b="0" i="0" kern="1200" dirty="0">
                <a:solidFill>
                  <a:schemeClr val="tx1"/>
                </a:solidFill>
                <a:effectLst/>
                <a:latin typeface="+mn-lt"/>
                <a:ea typeface="+mn-ea"/>
                <a:cs typeface="+mn-cs"/>
              </a:rPr>
              <a:t>Сам кластер K8S состоит из, барабанная дробь, рабочих узлов. В узлах или </a:t>
            </a:r>
            <a:r>
              <a:rPr lang="ru-RU" sz="1200" b="0" i="0" kern="1200" dirty="0" err="1">
                <a:solidFill>
                  <a:schemeClr val="tx1"/>
                </a:solidFill>
                <a:effectLst/>
                <a:latin typeface="+mn-lt"/>
                <a:ea typeface="+mn-ea"/>
                <a:cs typeface="+mn-cs"/>
              </a:rPr>
              <a:t>нодах</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Nodes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Worker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nodes</a:t>
            </a:r>
            <a:r>
              <a:rPr lang="ru-RU" sz="1200" b="0" i="0" kern="1200" dirty="0">
                <a:solidFill>
                  <a:schemeClr val="tx1"/>
                </a:solidFill>
                <a:effectLst/>
                <a:latin typeface="+mn-lt"/>
                <a:ea typeface="+mn-ea"/>
                <a:cs typeface="+mn-cs"/>
              </a:rPr>
              <a:t>), помимо контейнеров компонентов самого кластера, размещаются контейнеры наших проектов и сервисов.</a:t>
            </a:r>
          </a:p>
          <a:p>
            <a:r>
              <a:rPr lang="ru-RU" sz="1200" b="0" i="0" kern="1200" dirty="0" err="1">
                <a:solidFill>
                  <a:schemeClr val="tx1"/>
                </a:solidFill>
                <a:effectLst/>
                <a:latin typeface="+mn-lt"/>
                <a:ea typeface="+mn-ea"/>
                <a:cs typeface="+mn-cs"/>
              </a:rPr>
              <a:t>Worker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nodes</a:t>
            </a:r>
            <a:r>
              <a:rPr lang="ru-RU" sz="1200" b="0" i="0" kern="1200" dirty="0">
                <a:solidFill>
                  <a:schemeClr val="tx1"/>
                </a:solidFill>
                <a:effectLst/>
                <a:latin typeface="+mn-lt"/>
                <a:ea typeface="+mn-ea"/>
                <a:cs typeface="+mn-cs"/>
              </a:rPr>
              <a:t> состоит из компонентов:</a:t>
            </a:r>
          </a:p>
          <a:p>
            <a:r>
              <a:rPr lang="ru-RU" sz="1200" b="0" i="0" kern="1200" dirty="0" err="1">
                <a:solidFill>
                  <a:schemeClr val="tx1"/>
                </a:solidFill>
                <a:effectLst/>
                <a:latin typeface="+mn-lt"/>
                <a:ea typeface="+mn-ea"/>
                <a:cs typeface="+mn-cs"/>
              </a:rPr>
              <a:t>kubelet</a:t>
            </a:r>
            <a:r>
              <a:rPr lang="ru-RU" sz="1200" b="0" i="0" kern="1200" dirty="0">
                <a:solidFill>
                  <a:schemeClr val="tx1"/>
                </a:solidFill>
                <a:effectLst/>
                <a:latin typeface="+mn-lt"/>
                <a:ea typeface="+mn-ea"/>
                <a:cs typeface="+mn-cs"/>
              </a:rPr>
              <a:t> - сервис или агент, который контролирует запуск компонентов (контейнеров) кластера</a:t>
            </a:r>
          </a:p>
          <a:p>
            <a:r>
              <a:rPr lang="ru-RU" sz="1200" b="0" i="0" kern="1200" dirty="0" err="1">
                <a:solidFill>
                  <a:schemeClr val="tx1"/>
                </a:solidFill>
                <a:effectLst/>
                <a:latin typeface="+mn-lt"/>
                <a:ea typeface="+mn-ea"/>
                <a:cs typeface="+mn-cs"/>
              </a:rPr>
              <a:t>kube-proxy</a:t>
            </a:r>
            <a:r>
              <a:rPr lang="ru-RU" sz="1200" b="0" i="0" kern="1200" dirty="0">
                <a:solidFill>
                  <a:schemeClr val="tx1"/>
                </a:solidFill>
                <a:effectLst/>
                <a:latin typeface="+mn-lt"/>
                <a:ea typeface="+mn-ea"/>
                <a:cs typeface="+mn-cs"/>
              </a:rPr>
              <a:t> - конфигурирует правила сети на узлах</a:t>
            </a:r>
          </a:p>
          <a:p>
            <a:r>
              <a:rPr lang="ru-RU" sz="1200" b="0" i="0" kern="1200" dirty="0">
                <a:solidFill>
                  <a:schemeClr val="tx1"/>
                </a:solidFill>
                <a:effectLst/>
                <a:latin typeface="+mn-lt"/>
                <a:ea typeface="+mn-ea"/>
                <a:cs typeface="+mn-cs"/>
              </a:rPr>
              <a:t>Плоскость управления (</a:t>
            </a:r>
            <a:r>
              <a:rPr lang="ru-RU" sz="1200" b="0" i="0" kern="1200" dirty="0" err="1">
                <a:solidFill>
                  <a:schemeClr val="tx1"/>
                </a:solidFill>
                <a:effectLst/>
                <a:latin typeface="+mn-lt"/>
                <a:ea typeface="+mn-ea"/>
                <a:cs typeface="+mn-cs"/>
              </a:rPr>
              <a:t>Master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nodes</a:t>
            </a:r>
            <a:r>
              <a:rPr lang="ru-RU" sz="1200" b="0" i="0" kern="1200" dirty="0">
                <a:solidFill>
                  <a:schemeClr val="tx1"/>
                </a:solidFill>
                <a:effectLst/>
                <a:latin typeface="+mn-lt"/>
                <a:ea typeface="+mn-ea"/>
                <a:cs typeface="+mn-cs"/>
              </a:rPr>
              <a:t>) управляет рабочими узлами и подами в кластере. Там располагаются компоненты, которые управляют узлами кластера и предоставляют доступ к API.</a:t>
            </a:r>
          </a:p>
          <a:p>
            <a:r>
              <a:rPr lang="ru-RU" sz="1200" b="0" i="0" kern="1200" dirty="0" err="1">
                <a:solidFill>
                  <a:schemeClr val="tx1"/>
                </a:solidFill>
                <a:effectLst/>
                <a:latin typeface="+mn-lt"/>
                <a:ea typeface="+mn-ea"/>
                <a:cs typeface="+mn-cs"/>
              </a:rPr>
              <a:t>Control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plane</a:t>
            </a:r>
            <a:r>
              <a:rPr lang="ru-RU" sz="1200" b="0" i="0" kern="1200" dirty="0">
                <a:solidFill>
                  <a:schemeClr val="tx1"/>
                </a:solidFill>
                <a:effectLst/>
                <a:latin typeface="+mn-lt"/>
                <a:ea typeface="+mn-ea"/>
                <a:cs typeface="+mn-cs"/>
              </a:rPr>
              <a:t> состоит из компонентов:</a:t>
            </a:r>
          </a:p>
          <a:p>
            <a:r>
              <a:rPr lang="ru-RU" sz="1200" b="0" i="0" kern="1200" dirty="0" err="1">
                <a:solidFill>
                  <a:schemeClr val="tx1"/>
                </a:solidFill>
                <a:effectLst/>
                <a:latin typeface="+mn-lt"/>
                <a:ea typeface="+mn-ea"/>
                <a:cs typeface="+mn-cs"/>
              </a:rPr>
              <a:t>kube-apiserver</a:t>
            </a:r>
            <a:r>
              <a:rPr lang="ru-RU" sz="1200" b="0" i="0" kern="1200" dirty="0">
                <a:solidFill>
                  <a:schemeClr val="tx1"/>
                </a:solidFill>
                <a:effectLst/>
                <a:latin typeface="+mn-lt"/>
                <a:ea typeface="+mn-ea"/>
                <a:cs typeface="+mn-cs"/>
              </a:rPr>
              <a:t> - предоставляет API </a:t>
            </a:r>
            <a:r>
              <a:rPr lang="ru-RU" sz="1200" b="0" i="0" kern="1200" dirty="0" err="1">
                <a:solidFill>
                  <a:schemeClr val="tx1"/>
                </a:solidFill>
                <a:effectLst/>
                <a:latin typeface="+mn-lt"/>
                <a:ea typeface="+mn-ea"/>
                <a:cs typeface="+mn-cs"/>
              </a:rPr>
              <a:t>кубера</a:t>
            </a:r>
            <a:endParaRPr lang="ru-RU" sz="1200" b="0" i="0" kern="1200" dirty="0">
              <a:solidFill>
                <a:schemeClr val="tx1"/>
              </a:solidFill>
              <a:effectLst/>
              <a:latin typeface="+mn-lt"/>
              <a:ea typeface="+mn-ea"/>
              <a:cs typeface="+mn-cs"/>
            </a:endParaRPr>
          </a:p>
          <a:p>
            <a:r>
              <a:rPr lang="ru-RU" sz="1200" b="0" i="0" kern="1200" dirty="0" err="1">
                <a:solidFill>
                  <a:schemeClr val="tx1"/>
                </a:solidFill>
                <a:effectLst/>
                <a:latin typeface="+mn-lt"/>
                <a:ea typeface="+mn-ea"/>
                <a:cs typeface="+mn-cs"/>
              </a:rPr>
              <a:t>etcd</a:t>
            </a:r>
            <a:r>
              <a:rPr lang="ru-RU" sz="1200" b="0" i="0" kern="1200" dirty="0">
                <a:solidFill>
                  <a:schemeClr val="tx1"/>
                </a:solidFill>
                <a:effectLst/>
                <a:latin typeface="+mn-lt"/>
                <a:ea typeface="+mn-ea"/>
                <a:cs typeface="+mn-cs"/>
              </a:rPr>
              <a:t> - распределенное </a:t>
            </a:r>
            <a:r>
              <a:rPr lang="ru-RU" sz="1200" b="0" i="0" kern="1200" dirty="0" err="1">
                <a:solidFill>
                  <a:schemeClr val="tx1"/>
                </a:solidFill>
                <a:effectLst/>
                <a:latin typeface="+mn-lt"/>
                <a:ea typeface="+mn-ea"/>
                <a:cs typeface="+mn-cs"/>
              </a:rPr>
              <a:t>key-value</a:t>
            </a:r>
            <a:r>
              <a:rPr lang="ru-RU" sz="1200" b="0" i="0" kern="1200" dirty="0">
                <a:solidFill>
                  <a:schemeClr val="tx1"/>
                </a:solidFill>
                <a:effectLst/>
                <a:latin typeface="+mn-lt"/>
                <a:ea typeface="+mn-ea"/>
                <a:cs typeface="+mn-cs"/>
              </a:rPr>
              <a:t> хранилище для всех данных кластера. Необязательно располагается внутри мастера, может стоять как отдельный кластер</a:t>
            </a:r>
          </a:p>
          <a:p>
            <a:r>
              <a:rPr lang="ru-RU" sz="1200" b="0" i="0" kern="1200" dirty="0" err="1">
                <a:solidFill>
                  <a:schemeClr val="tx1"/>
                </a:solidFill>
                <a:effectLst/>
                <a:latin typeface="+mn-lt"/>
                <a:ea typeface="+mn-ea"/>
                <a:cs typeface="+mn-cs"/>
              </a:rPr>
              <a:t>kube-scheduler</a:t>
            </a:r>
            <a:r>
              <a:rPr lang="ru-RU" sz="1200" b="0" i="0" kern="1200" dirty="0">
                <a:solidFill>
                  <a:schemeClr val="tx1"/>
                </a:solidFill>
                <a:effectLst/>
                <a:latin typeface="+mn-lt"/>
                <a:ea typeface="+mn-ea"/>
                <a:cs typeface="+mn-cs"/>
              </a:rPr>
              <a:t> - планирует размещение подов на узлах кластера</a:t>
            </a:r>
          </a:p>
          <a:p>
            <a:r>
              <a:rPr lang="ru-RU" sz="1200" b="0" i="0" kern="1200" dirty="0" err="1">
                <a:solidFill>
                  <a:schemeClr val="tx1"/>
                </a:solidFill>
                <a:effectLst/>
                <a:latin typeface="+mn-lt"/>
                <a:ea typeface="+mn-ea"/>
                <a:cs typeface="+mn-cs"/>
              </a:rPr>
              <a:t>kube-controller-manager</a:t>
            </a:r>
            <a:r>
              <a:rPr lang="ru-RU" sz="1200" b="0" i="0" kern="1200" dirty="0">
                <a:solidFill>
                  <a:schemeClr val="tx1"/>
                </a:solidFill>
                <a:effectLst/>
                <a:latin typeface="+mn-lt"/>
                <a:ea typeface="+mn-ea"/>
                <a:cs typeface="+mn-cs"/>
              </a:rPr>
              <a:t> - запускает контроллеры</a:t>
            </a:r>
          </a:p>
          <a:p>
            <a:r>
              <a:rPr lang="ru-RU" sz="1200" b="0" i="0" kern="1200" dirty="0" err="1">
                <a:solidFill>
                  <a:schemeClr val="tx1"/>
                </a:solidFill>
                <a:effectLst/>
                <a:latin typeface="+mn-lt"/>
                <a:ea typeface="+mn-ea"/>
                <a:cs typeface="+mn-cs"/>
              </a:rPr>
              <a:t>kubelet</a:t>
            </a:r>
            <a:r>
              <a:rPr lang="ru-RU" sz="1200" b="0" i="0" kern="1200">
                <a:solidFill>
                  <a:schemeClr val="tx1"/>
                </a:solidFill>
                <a:effectLst/>
                <a:latin typeface="+mn-lt"/>
                <a:ea typeface="+mn-ea"/>
                <a:cs typeface="+mn-cs"/>
              </a:rPr>
              <a:t> - сервис или агент, который контролирует запуск основных компонентов (контейнеров) кластер</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17</a:t>
            </a:fld>
            <a:endParaRPr lang="ru-RU"/>
          </a:p>
        </p:txBody>
      </p:sp>
    </p:spTree>
    <p:extLst>
      <p:ext uri="{BB962C8B-B14F-4D97-AF65-F5344CB8AC3E}">
        <p14:creationId xmlns:p14="http://schemas.microsoft.com/office/powerpoint/2010/main" val="1699148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19</a:t>
            </a:fld>
            <a:endParaRPr lang="ru-RU"/>
          </a:p>
        </p:txBody>
      </p:sp>
    </p:spTree>
    <p:extLst>
      <p:ext uri="{BB962C8B-B14F-4D97-AF65-F5344CB8AC3E}">
        <p14:creationId xmlns:p14="http://schemas.microsoft.com/office/powerpoint/2010/main" val="1280321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Быструю и автоматическую масштабируемость. При росте нагрузки можно быстро добавить необходимые узлы приложения, а также быстро их вывести, чтобы не тратить драгоценные ресурсы</a:t>
            </a:r>
          </a:p>
          <a:p>
            <a:r>
              <a:rPr lang="ru-RU" dirty="0"/>
              <a:t>Гибкий подход к эксплуатации. Мы можем быстро и легко построить структуру приложения, так как вся структура описывается в конфигурационных файлах - манифестах</a:t>
            </a:r>
          </a:p>
          <a:p>
            <a:r>
              <a:rPr lang="ru-RU" dirty="0"/>
              <a:t>Гибкий подход в управлении. </a:t>
            </a:r>
            <a:r>
              <a:rPr lang="ru-RU" dirty="0" err="1"/>
              <a:t>Kubernetes</a:t>
            </a:r>
            <a:r>
              <a:rPr lang="ru-RU" dirty="0"/>
              <a:t> не потребует перестройки инфраструктуры и прочего, если вы захотели провести тестирование, внедрить новый сервис или сделать </a:t>
            </a:r>
            <a:r>
              <a:rPr lang="ru-RU" dirty="0" err="1"/>
              <a:t>деплой</a:t>
            </a:r>
            <a:r>
              <a:rPr lang="ru-RU" dirty="0"/>
              <a:t> по методологии </a:t>
            </a:r>
            <a:r>
              <a:rPr lang="ru-RU" dirty="0" err="1"/>
              <a:t>blue-green</a:t>
            </a:r>
            <a:endParaRPr lang="ru-RU" dirty="0"/>
          </a:p>
          <a:p>
            <a:r>
              <a:rPr lang="ru-RU" dirty="0"/>
              <a:t>Универсальность. С помощью манифестов легко переехать, если вы захотели поменять провайдера или переезжали в свой собственный кластер</a:t>
            </a:r>
          </a:p>
          <a:p>
            <a:r>
              <a:rPr lang="ru-RU" dirty="0"/>
              <a:t>Низкий порог вхождения в использование. </a:t>
            </a:r>
            <a:r>
              <a:rPr lang="ru-RU" dirty="0" err="1"/>
              <a:t>Kubernetes</a:t>
            </a:r>
            <a:r>
              <a:rPr lang="ru-RU" dirty="0"/>
              <a:t> довольно легок в освоении манифестов, потому что большую часть работы он делает за вас</a:t>
            </a:r>
          </a:p>
          <a:p>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20</a:t>
            </a:fld>
            <a:endParaRPr lang="ru-RU"/>
          </a:p>
        </p:txBody>
      </p:sp>
    </p:spTree>
    <p:extLst>
      <p:ext uri="{BB962C8B-B14F-4D97-AF65-F5344CB8AC3E}">
        <p14:creationId xmlns:p14="http://schemas.microsoft.com/office/powerpoint/2010/main" val="40993241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Контейнеры и </a:t>
            </a:r>
            <a:r>
              <a:rPr lang="en-US" sz="1200" b="0" i="0" kern="1200" dirty="0">
                <a:solidFill>
                  <a:schemeClr val="tx1"/>
                </a:solidFill>
                <a:effectLst/>
                <a:latin typeface="+mn-lt"/>
                <a:ea typeface="+mn-ea"/>
                <a:cs typeface="+mn-cs"/>
              </a:rPr>
              <a:t>k8s </a:t>
            </a:r>
            <a:r>
              <a:rPr lang="ru-RU" sz="1200" b="0" i="0" kern="1200" dirty="0">
                <a:solidFill>
                  <a:schemeClr val="tx1"/>
                </a:solidFill>
                <a:effectLst/>
                <a:latin typeface="+mn-lt"/>
                <a:ea typeface="+mn-ea"/>
                <a:cs typeface="+mn-cs"/>
              </a:rPr>
              <a:t>предоставляют набор инструментов для аудитов и логирования. Где это возможно, включаем аналитику, работаем везде по защищенным протоколам, запрещаем ненужные привилегии и системные вызовы для приложений, а также сегментируем сети, включаем сетевые политики. Это все помогает нам уберечь приложения и кластеры от случайных ошибок, которые потенциально могут использовать злоумышленники.</a:t>
            </a:r>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21</a:t>
            </a:fld>
            <a:endParaRPr lang="ru-RU"/>
          </a:p>
        </p:txBody>
      </p:sp>
    </p:spTree>
    <p:extLst>
      <p:ext uri="{BB962C8B-B14F-4D97-AF65-F5344CB8AC3E}">
        <p14:creationId xmlns:p14="http://schemas.microsoft.com/office/powerpoint/2010/main" val="17997312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err="1">
                <a:solidFill>
                  <a:schemeClr val="tx1"/>
                </a:solidFill>
                <a:effectLst/>
                <a:latin typeface="+mn-lt"/>
                <a:ea typeface="+mn-ea"/>
                <a:cs typeface="+mn-cs"/>
              </a:rPr>
              <a:t>AppArmor</a:t>
            </a:r>
            <a:r>
              <a:rPr lang="ru-RU" sz="1200" b="0" i="0" kern="1200" dirty="0">
                <a:solidFill>
                  <a:schemeClr val="tx1"/>
                </a:solidFill>
                <a:effectLst/>
                <a:latin typeface="+mn-lt"/>
                <a:ea typeface="+mn-ea"/>
                <a:cs typeface="+mn-cs"/>
              </a:rPr>
              <a:t> — система управления доступом, которая позволяет задавать профили безопасности для контейнеров. Она контролирует доступность ресурсов и тем самым помогает защитить систему от потенциально вредоносного поведения контейнеров.</a:t>
            </a:r>
            <a:br>
              <a:rPr lang="ru-RU" dirty="0"/>
            </a:br>
            <a:br>
              <a:rPr lang="ru-RU" dirty="0"/>
            </a:br>
            <a:r>
              <a:rPr lang="ru-RU" sz="1200" b="0" i="0" kern="1200" dirty="0">
                <a:solidFill>
                  <a:schemeClr val="tx1"/>
                </a:solidFill>
                <a:effectLst/>
                <a:latin typeface="+mn-lt"/>
                <a:ea typeface="+mn-ea"/>
                <a:cs typeface="+mn-cs"/>
              </a:rPr>
              <a:t>Например, можно создать профиль, который разрешает контейнеру доступ только к определенным важным системным элементам, что ограничивает возможность изменять или удалять критически важные системные файлы.</a:t>
            </a:r>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23</a:t>
            </a:fld>
            <a:endParaRPr lang="ru-RU"/>
          </a:p>
        </p:txBody>
      </p:sp>
    </p:spTree>
    <p:extLst>
      <p:ext uri="{BB962C8B-B14F-4D97-AF65-F5344CB8AC3E}">
        <p14:creationId xmlns:p14="http://schemas.microsoft.com/office/powerpoint/2010/main" val="3552683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err="1">
                <a:solidFill>
                  <a:schemeClr val="tx1"/>
                </a:solidFill>
                <a:effectLst/>
                <a:latin typeface="+mn-lt"/>
                <a:ea typeface="+mn-ea"/>
                <a:cs typeface="+mn-cs"/>
              </a:rPr>
              <a:t>Seccomp</a:t>
            </a:r>
            <a:r>
              <a:rPr lang="ru-RU" sz="1200" b="0" i="0" kern="1200" dirty="0">
                <a:solidFill>
                  <a:schemeClr val="tx1"/>
                </a:solidFill>
                <a:effectLst/>
                <a:latin typeface="+mn-lt"/>
                <a:ea typeface="+mn-ea"/>
                <a:cs typeface="+mn-cs"/>
              </a:rPr>
              <a:t> — инструмент, который позволяет ограничить набор системных вызовов, доступных контейнеру. По умолчанию </a:t>
            </a:r>
            <a:r>
              <a:rPr lang="ru-RU" sz="1200" b="0" i="0" kern="1200" dirty="0" err="1">
                <a:solidFill>
                  <a:schemeClr val="tx1"/>
                </a:solidFill>
                <a:effectLst/>
                <a:latin typeface="+mn-lt"/>
                <a:ea typeface="+mn-ea"/>
                <a:cs typeface="+mn-cs"/>
              </a:rPr>
              <a:t>Docker</a:t>
            </a:r>
            <a:r>
              <a:rPr lang="ru-RU" sz="1200" b="0" i="0" kern="1200" dirty="0">
                <a:solidFill>
                  <a:schemeClr val="tx1"/>
                </a:solidFill>
                <a:effectLst/>
                <a:latin typeface="+mn-lt"/>
                <a:ea typeface="+mn-ea"/>
                <a:cs typeface="+mn-cs"/>
              </a:rPr>
              <a:t> применяет базовые настройки </a:t>
            </a:r>
            <a:r>
              <a:rPr lang="ru-RU" sz="1200" b="0" i="0" kern="1200" dirty="0" err="1">
                <a:solidFill>
                  <a:schemeClr val="tx1"/>
                </a:solidFill>
                <a:effectLst/>
                <a:latin typeface="+mn-lt"/>
                <a:ea typeface="+mn-ea"/>
                <a:cs typeface="+mn-cs"/>
              </a:rPr>
              <a:t>Seccomp</a:t>
            </a:r>
            <a:r>
              <a:rPr lang="ru-RU" sz="1200" b="0" i="0" kern="1200" dirty="0">
                <a:solidFill>
                  <a:schemeClr val="tx1"/>
                </a:solidFill>
                <a:effectLst/>
                <a:latin typeface="+mn-lt"/>
                <a:ea typeface="+mn-ea"/>
                <a:cs typeface="+mn-cs"/>
              </a:rPr>
              <a:t>, которые блокируют системные вызовы.</a:t>
            </a:r>
            <a:br>
              <a:rPr lang="ru-RU" dirty="0"/>
            </a:br>
            <a:br>
              <a:rPr lang="ru-RU" dirty="0"/>
            </a:br>
            <a:r>
              <a:rPr lang="ru-RU" sz="1200" b="0" i="0" kern="1200" dirty="0">
                <a:solidFill>
                  <a:schemeClr val="tx1"/>
                </a:solidFill>
                <a:effectLst/>
                <a:latin typeface="+mn-lt"/>
                <a:ea typeface="+mn-ea"/>
                <a:cs typeface="+mn-cs"/>
              </a:rPr>
              <a:t>Возникает вопрос: какие именно вызовы опасны и почему? Ведь такие действия, как открытие файла, чтение или запись, действительно могут привести к повреждению системы или утечке данных. Однако отключить их нельзя — работа большинства приложений будет парализована.</a:t>
            </a:r>
            <a:br>
              <a:rPr lang="ru-RU" dirty="0"/>
            </a:br>
            <a:br>
              <a:rPr lang="ru-RU" dirty="0"/>
            </a:br>
            <a:r>
              <a:rPr lang="ru-RU" sz="1200" b="0" i="0" kern="1200" dirty="0">
                <a:solidFill>
                  <a:schemeClr val="tx1"/>
                </a:solidFill>
                <a:effectLst/>
                <a:latin typeface="+mn-lt"/>
                <a:ea typeface="+mn-ea"/>
                <a:cs typeface="+mn-cs"/>
              </a:rPr>
              <a:t>По умолчанию </a:t>
            </a:r>
            <a:r>
              <a:rPr lang="ru-RU" sz="1200" b="0" i="0" kern="1200" dirty="0" err="1">
                <a:solidFill>
                  <a:schemeClr val="tx1"/>
                </a:solidFill>
                <a:effectLst/>
                <a:latin typeface="+mn-lt"/>
                <a:ea typeface="+mn-ea"/>
                <a:cs typeface="+mn-cs"/>
              </a:rPr>
              <a:t>Docker</a:t>
            </a:r>
            <a:r>
              <a:rPr lang="ru-RU" sz="1200" b="0" i="0" kern="1200" dirty="0">
                <a:solidFill>
                  <a:schemeClr val="tx1"/>
                </a:solidFill>
                <a:effectLst/>
                <a:latin typeface="+mn-lt"/>
                <a:ea typeface="+mn-ea"/>
                <a:cs typeface="+mn-cs"/>
              </a:rPr>
              <a:t> с базовым профилем </a:t>
            </a:r>
            <a:r>
              <a:rPr lang="ru-RU" sz="1200" b="0" i="0" kern="1200" dirty="0" err="1">
                <a:solidFill>
                  <a:schemeClr val="tx1"/>
                </a:solidFill>
                <a:effectLst/>
                <a:latin typeface="+mn-lt"/>
                <a:ea typeface="+mn-ea"/>
                <a:cs typeface="+mn-cs"/>
              </a:rPr>
              <a:t>Seccomp</a:t>
            </a:r>
            <a:r>
              <a:rPr lang="ru-RU" sz="1200" b="0" i="0" kern="1200" dirty="0">
                <a:solidFill>
                  <a:schemeClr val="tx1"/>
                </a:solidFill>
                <a:effectLst/>
                <a:latin typeface="+mn-lt"/>
                <a:ea typeface="+mn-ea"/>
                <a:cs typeface="+mn-cs"/>
              </a:rPr>
              <a:t> блокирует следующие </a:t>
            </a:r>
            <a:r>
              <a:rPr lang="ru-RU" sz="1200" b="0" i="0" kern="1200" dirty="0" err="1">
                <a:solidFill>
                  <a:schemeClr val="tx1"/>
                </a:solidFill>
                <a:effectLst/>
                <a:latin typeface="+mn-lt"/>
                <a:ea typeface="+mn-ea"/>
                <a:cs typeface="+mn-cs"/>
              </a:rPr>
              <a:t>вызовы:mount</a:t>
            </a:r>
            <a:r>
              <a:rPr lang="ru-RU" sz="1200" b="0" i="0" kern="1200" dirty="0">
                <a:solidFill>
                  <a:schemeClr val="tx1"/>
                </a:solidFill>
                <a:effectLst/>
                <a:latin typeface="+mn-lt"/>
                <a:ea typeface="+mn-ea"/>
                <a:cs typeface="+mn-cs"/>
              </a:rPr>
              <a:t> — предотвращает монтирование файловых систем, защищая данные хоста от несанкционированного доступа;</a:t>
            </a:r>
          </a:p>
          <a:p>
            <a:r>
              <a:rPr lang="ru-RU" sz="1200" b="0" i="0" kern="1200" dirty="0" err="1">
                <a:solidFill>
                  <a:schemeClr val="tx1"/>
                </a:solidFill>
                <a:effectLst/>
                <a:latin typeface="+mn-lt"/>
                <a:ea typeface="+mn-ea"/>
                <a:cs typeface="+mn-cs"/>
              </a:rPr>
              <a:t>reboot</a:t>
            </a:r>
            <a:r>
              <a:rPr lang="ru-RU" sz="1200" b="0" i="0" kern="1200" dirty="0">
                <a:solidFill>
                  <a:schemeClr val="tx1"/>
                </a:solidFill>
                <a:effectLst/>
                <a:latin typeface="+mn-lt"/>
                <a:ea typeface="+mn-ea"/>
                <a:cs typeface="+mn-cs"/>
              </a:rPr>
              <a:t> — исключает возможность перезагрузки системы из контейнера;</a:t>
            </a:r>
          </a:p>
          <a:p>
            <a:r>
              <a:rPr lang="ru-RU" sz="1200" b="0" i="0" kern="1200" dirty="0" err="1">
                <a:solidFill>
                  <a:schemeClr val="tx1"/>
                </a:solidFill>
                <a:effectLst/>
                <a:latin typeface="+mn-lt"/>
                <a:ea typeface="+mn-ea"/>
                <a:cs typeface="+mn-cs"/>
              </a:rPr>
              <a:t>ptrace</a:t>
            </a:r>
            <a:r>
              <a:rPr lang="ru-RU" sz="1200" b="0" i="0" kern="1200" dirty="0">
                <a:solidFill>
                  <a:schemeClr val="tx1"/>
                </a:solidFill>
                <a:effectLst/>
                <a:latin typeface="+mn-lt"/>
                <a:ea typeface="+mn-ea"/>
                <a:cs typeface="+mn-cs"/>
              </a:rPr>
              <a:t> — блокирует инструменты отладки, которые могут дать доступ к памяти и процессам хоста;</a:t>
            </a:r>
          </a:p>
          <a:p>
            <a:r>
              <a:rPr lang="ru-RU" sz="1200" b="0" i="0" kern="1200" dirty="0" err="1">
                <a:solidFill>
                  <a:schemeClr val="tx1"/>
                </a:solidFill>
                <a:effectLst/>
                <a:latin typeface="+mn-lt"/>
                <a:ea typeface="+mn-ea"/>
                <a:cs typeface="+mn-cs"/>
              </a:rPr>
              <a:t>kexec_load</a:t>
            </a:r>
            <a:r>
              <a:rPr lang="ru-RU" sz="1200" b="0" i="0" kern="1200" dirty="0">
                <a:solidFill>
                  <a:schemeClr val="tx1"/>
                </a:solidFill>
                <a:effectLst/>
                <a:latin typeface="+mn-lt"/>
                <a:ea typeface="+mn-ea"/>
                <a:cs typeface="+mn-cs"/>
              </a:rPr>
              <a:t> — запрещает загрузку и замену ядра, что предотвращает захват системы на более глубоком уровне.</a:t>
            </a:r>
          </a:p>
          <a:p>
            <a:br>
              <a:rPr lang="ru-RU" dirty="0"/>
            </a:br>
            <a:r>
              <a:rPr lang="ru-RU" sz="1200" b="0" i="0" kern="1200" dirty="0">
                <a:solidFill>
                  <a:schemeClr val="tx1"/>
                </a:solidFill>
                <a:effectLst/>
                <a:latin typeface="+mn-lt"/>
                <a:ea typeface="+mn-ea"/>
                <a:cs typeface="+mn-cs"/>
              </a:rPr>
              <a:t>Однако разработчики могут обеспечивать дополнительный уровень безопасности и создавать собственные профили </a:t>
            </a:r>
            <a:r>
              <a:rPr lang="ru-RU" sz="1200" b="0" i="0" kern="1200" dirty="0" err="1">
                <a:solidFill>
                  <a:schemeClr val="tx1"/>
                </a:solidFill>
                <a:effectLst/>
                <a:latin typeface="+mn-lt"/>
                <a:ea typeface="+mn-ea"/>
                <a:cs typeface="+mn-cs"/>
              </a:rPr>
              <a:t>Seccomp</a:t>
            </a:r>
            <a:r>
              <a:rPr lang="ru-RU" sz="1200" b="0" i="0" kern="1200" dirty="0">
                <a:solidFill>
                  <a:schemeClr val="tx1"/>
                </a:solidFill>
                <a:effectLst/>
                <a:latin typeface="+mn-lt"/>
                <a:ea typeface="+mn-ea"/>
                <a:cs typeface="+mn-cs"/>
              </a:rPr>
              <a:t> для ограничения конкретных системных вызовов. Например, можно отключить вызовы, которые могут привести к повреждению системы или утечке </a:t>
            </a:r>
            <a:r>
              <a:rPr lang="ru-RU" sz="1200" b="0" i="0" kern="1200" dirty="0" err="1">
                <a:solidFill>
                  <a:schemeClr val="tx1"/>
                </a:solidFill>
                <a:effectLst/>
                <a:latin typeface="+mn-lt"/>
                <a:ea typeface="+mn-ea"/>
                <a:cs typeface="+mn-cs"/>
              </a:rPr>
              <a:t>данны</a:t>
            </a:r>
            <a:endParaRPr lang="ru-RU" dirty="0"/>
          </a:p>
        </p:txBody>
      </p:sp>
      <p:sp>
        <p:nvSpPr>
          <p:cNvPr id="4" name="Номер слайда 3"/>
          <p:cNvSpPr>
            <a:spLocks noGrp="1"/>
          </p:cNvSpPr>
          <p:nvPr>
            <p:ph type="sldNum" sz="quarter" idx="5"/>
          </p:nvPr>
        </p:nvSpPr>
        <p:spPr/>
        <p:txBody>
          <a:bodyPr/>
          <a:lstStyle/>
          <a:p>
            <a:fld id="{8784880F-8859-4814-B5BA-DC0EB73BF050}" type="slidenum">
              <a:rPr lang="ru-RU" smtClean="0"/>
              <a:t>24</a:t>
            </a:fld>
            <a:endParaRPr lang="ru-RU"/>
          </a:p>
        </p:txBody>
      </p:sp>
    </p:spTree>
    <p:extLst>
      <p:ext uri="{BB962C8B-B14F-4D97-AF65-F5344CB8AC3E}">
        <p14:creationId xmlns:p14="http://schemas.microsoft.com/office/powerpoint/2010/main" val="3034969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482134-3FFA-4A73-ABE4-FB5E383A86AE}"/>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494F6024-3E24-4F3B-90F7-5DCFE2E9F4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4B3C87D5-8481-4680-AA6C-82CB55CD7550}"/>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5" name="Нижний колонтитул 4">
            <a:extLst>
              <a:ext uri="{FF2B5EF4-FFF2-40B4-BE49-F238E27FC236}">
                <a16:creationId xmlns:a16="http://schemas.microsoft.com/office/drawing/2014/main" id="{AEA7019E-C91D-4CF8-AC25-0D4808B8AF3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91FF431-AF68-4F09-A1FB-E21450B4EB85}"/>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156603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85CFDE-AB24-486F-BB40-02CC44C665D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C97EA55-16B3-40B5-8D40-5416779BF42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DCC1716-BE43-4293-A3E6-47938C2E11EC}"/>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5" name="Нижний колонтитул 4">
            <a:extLst>
              <a:ext uri="{FF2B5EF4-FFF2-40B4-BE49-F238E27FC236}">
                <a16:creationId xmlns:a16="http://schemas.microsoft.com/office/drawing/2014/main" id="{FCCE20C4-FDB0-4999-A22C-AC37F5357C2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C6FB77F-D863-4123-A366-DDB7E12A7D63}"/>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2233153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9AAD45-2099-4796-8D2C-DD93F96931A0}"/>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159BB46-D3E4-4F84-B6F1-8974A022BD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0C6A902C-1470-43CC-9508-5D39BC2E81CB}"/>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5" name="Нижний колонтитул 4">
            <a:extLst>
              <a:ext uri="{FF2B5EF4-FFF2-40B4-BE49-F238E27FC236}">
                <a16:creationId xmlns:a16="http://schemas.microsoft.com/office/drawing/2014/main" id="{B8105F1A-4B5C-48B9-A876-DBDDD1C831A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A64EFEC-DA5E-441F-88FA-BCFD57B3502F}"/>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863425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F1002B-94E5-43A5-8EF8-972E7C6CF2A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A31DC9D-2B38-435B-8273-5E406D9552D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4C0174A-4D60-4F45-AF9C-504BE5F93E8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186DC2E9-0295-44AF-85C7-9FA08304C8AC}"/>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6" name="Нижний колонтитул 5">
            <a:extLst>
              <a:ext uri="{FF2B5EF4-FFF2-40B4-BE49-F238E27FC236}">
                <a16:creationId xmlns:a16="http://schemas.microsoft.com/office/drawing/2014/main" id="{1611267A-E8CC-4EB4-A10C-A6BE9C81484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8C23149-6629-44BE-9778-2EE538667BD0}"/>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1527779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73EF37-B981-46F0-B757-61715418E1A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25E2B844-B7B3-43D2-A8C8-D3B3146709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6A77C29B-839F-4D11-84AA-B77AE0E2DA2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DED1E1F6-E87B-46E1-A263-4C13BE4050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672CECD-2A69-437F-962C-6B9E7D0B96A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3506FB50-DB3F-4D2F-8952-31DFF1A15948}"/>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8" name="Нижний колонтитул 7">
            <a:extLst>
              <a:ext uri="{FF2B5EF4-FFF2-40B4-BE49-F238E27FC236}">
                <a16:creationId xmlns:a16="http://schemas.microsoft.com/office/drawing/2014/main" id="{8875E6F1-7FCC-4130-B729-59D7E45CFE4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2C45C17B-195D-41AD-B186-8FAD0E36FE63}"/>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9970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678C3-178E-4186-9A27-34C160B5622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BD0B737E-A9BD-4DC3-BB2C-57FB31CDBE20}"/>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4" name="Нижний колонтитул 3">
            <a:extLst>
              <a:ext uri="{FF2B5EF4-FFF2-40B4-BE49-F238E27FC236}">
                <a16:creationId xmlns:a16="http://schemas.microsoft.com/office/drawing/2014/main" id="{31D7AE7E-2F78-4B2A-A04C-7B009C819DD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E6465BE-3426-41CC-809D-E21E7E1B9011}"/>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2627075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3D15B65-19CF-4558-B8A5-8CACB50AF0A5}"/>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3" name="Нижний колонтитул 2">
            <a:extLst>
              <a:ext uri="{FF2B5EF4-FFF2-40B4-BE49-F238E27FC236}">
                <a16:creationId xmlns:a16="http://schemas.microsoft.com/office/drawing/2014/main" id="{F914BF4B-F00A-4BDE-A40C-C5494AF6B5E5}"/>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80C3CD25-FBEE-4A01-9AEE-8D938FE7C6C0}"/>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3292331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7D3E20-E422-40CF-ABE3-F225FA518F4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EADA626B-39AE-43DC-A947-46ED94FFEB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4D562EC-38FA-47E4-BAC1-9D9CBE3354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CE13257-0B0C-47B5-A07F-AE67D0935405}"/>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6" name="Нижний колонтитул 5">
            <a:extLst>
              <a:ext uri="{FF2B5EF4-FFF2-40B4-BE49-F238E27FC236}">
                <a16:creationId xmlns:a16="http://schemas.microsoft.com/office/drawing/2014/main" id="{36C7872D-1E94-4BC6-9785-38616AC95B4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B6DBBE3-BD7F-4FFE-92E5-8E9707C7BD46}"/>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337213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E7D9A4-578A-4559-84D5-78985459A64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5A950B16-FEA5-42C5-B8F7-7AE06A78A6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9B1FA1D-619C-4A99-9AF2-83847B437E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832D2C7-D148-4F94-9888-32DC0E2115D3}"/>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6" name="Нижний колонтитул 5">
            <a:extLst>
              <a:ext uri="{FF2B5EF4-FFF2-40B4-BE49-F238E27FC236}">
                <a16:creationId xmlns:a16="http://schemas.microsoft.com/office/drawing/2014/main" id="{1AB02137-D041-49E2-99FF-4975D8380C8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8C7000F-99CB-434C-9DD9-0EC5A0AF2DBC}"/>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24703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6DFF38-B9C5-4BD6-A415-051C1F2C5125}"/>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24859D8A-EEDD-40F7-B689-D86171FD88DC}"/>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F60EB16-3861-47AC-908E-F923EF9841B4}"/>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5" name="Нижний колонтитул 4">
            <a:extLst>
              <a:ext uri="{FF2B5EF4-FFF2-40B4-BE49-F238E27FC236}">
                <a16:creationId xmlns:a16="http://schemas.microsoft.com/office/drawing/2014/main" id="{864FC658-F81D-4B94-A129-65AEBB5D72B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8D39304-5F5F-4905-8CA8-1C836709A132}"/>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304969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53C22B83-3F3E-417A-8008-A0B0189932B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C42D4501-1329-479F-A6C5-8745CFF1AC9B}"/>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012B083-C11B-4FFB-8BD6-FA104CFBD3B5}"/>
              </a:ext>
            </a:extLst>
          </p:cNvPr>
          <p:cNvSpPr>
            <a:spLocks noGrp="1"/>
          </p:cNvSpPr>
          <p:nvPr>
            <p:ph type="dt" sz="half" idx="10"/>
          </p:nvPr>
        </p:nvSpPr>
        <p:spPr/>
        <p:txBody>
          <a:bodyPr/>
          <a:lstStyle/>
          <a:p>
            <a:fld id="{B5F6F68E-BE75-43CE-B804-F8463E1D079B}" type="datetimeFigureOut">
              <a:rPr lang="ru-RU" smtClean="0"/>
              <a:t>24.03.2026</a:t>
            </a:fld>
            <a:endParaRPr lang="ru-RU"/>
          </a:p>
        </p:txBody>
      </p:sp>
      <p:sp>
        <p:nvSpPr>
          <p:cNvPr id="5" name="Нижний колонтитул 4">
            <a:extLst>
              <a:ext uri="{FF2B5EF4-FFF2-40B4-BE49-F238E27FC236}">
                <a16:creationId xmlns:a16="http://schemas.microsoft.com/office/drawing/2014/main" id="{407E6157-E660-45A1-A58A-8685CB20C7F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759AC38-07F8-473A-9191-242B30D76CB6}"/>
              </a:ext>
            </a:extLst>
          </p:cNvPr>
          <p:cNvSpPr>
            <a:spLocks noGrp="1"/>
          </p:cNvSpPr>
          <p:nvPr>
            <p:ph type="sldNum" sz="quarter" idx="12"/>
          </p:nvPr>
        </p:nvSpPr>
        <p:spPr/>
        <p:txBody>
          <a:bodyPr/>
          <a:lstStyle/>
          <a:p>
            <a:fld id="{7971DB8C-0CB0-47C9-A9E4-544E3539DB8D}" type="slidenum">
              <a:rPr lang="ru-RU" smtClean="0"/>
              <a:t>‹#›</a:t>
            </a:fld>
            <a:endParaRPr lang="ru-RU"/>
          </a:p>
        </p:txBody>
      </p:sp>
    </p:spTree>
    <p:extLst>
      <p:ext uri="{BB962C8B-B14F-4D97-AF65-F5344CB8AC3E}">
        <p14:creationId xmlns:p14="http://schemas.microsoft.com/office/powerpoint/2010/main" val="1513312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C2F1CB-C4B5-48DB-8EA8-C77F99D9E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219CD80-779B-4098-95ED-52308F1060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B470445-1C9B-4E32-988C-E7917D9E0F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F6F68E-BE75-43CE-B804-F8463E1D079B}" type="datetimeFigureOut">
              <a:rPr lang="ru-RU" smtClean="0"/>
              <a:t>24.03.2026</a:t>
            </a:fld>
            <a:endParaRPr lang="ru-RU"/>
          </a:p>
        </p:txBody>
      </p:sp>
      <p:sp>
        <p:nvSpPr>
          <p:cNvPr id="5" name="Нижний колонтитул 4">
            <a:extLst>
              <a:ext uri="{FF2B5EF4-FFF2-40B4-BE49-F238E27FC236}">
                <a16:creationId xmlns:a16="http://schemas.microsoft.com/office/drawing/2014/main" id="{9F1F0498-52C7-469A-A3CC-B3AED8D904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109A4CF7-9B5B-4C4E-A839-4F54DE41F4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71DB8C-0CB0-47C9-A9E4-544E3539DB8D}" type="slidenum">
              <a:rPr lang="ru-RU" smtClean="0"/>
              <a:t>‹#›</a:t>
            </a:fld>
            <a:endParaRPr lang="ru-RU"/>
          </a:p>
        </p:txBody>
      </p:sp>
    </p:spTree>
    <p:extLst>
      <p:ext uri="{BB962C8B-B14F-4D97-AF65-F5344CB8AC3E}">
        <p14:creationId xmlns:p14="http://schemas.microsoft.com/office/powerpoint/2010/main" val="1116620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reg.ru/blog/k8s-dlya-nachinayushchih/" TargetMode="External"/><Relationship Id="rId2" Type="http://schemas.openxmlformats.org/officeDocument/2006/relationships/hyperlink" Target="https://habr.com/ru/articles/58941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8EB68E-1CA0-424F-ACD3-37DC5374CBA9}"/>
              </a:ext>
            </a:extLst>
          </p:cNvPr>
          <p:cNvSpPr>
            <a:spLocks noGrp="1"/>
          </p:cNvSpPr>
          <p:nvPr>
            <p:ph type="ctrTitle"/>
          </p:nvPr>
        </p:nvSpPr>
        <p:spPr/>
        <p:txBody>
          <a:bodyPr/>
          <a:lstStyle/>
          <a:p>
            <a:r>
              <a:rPr lang="en-US" dirty="0"/>
              <a:t>Kubernetes</a:t>
            </a:r>
            <a:r>
              <a:rPr lang="ru-RU" dirty="0"/>
              <a:t> </a:t>
            </a:r>
            <a:r>
              <a:rPr lang="en-US" dirty="0"/>
              <a:t>(K8s)</a:t>
            </a:r>
            <a:endParaRPr lang="ru-RU" dirty="0"/>
          </a:p>
        </p:txBody>
      </p:sp>
      <p:sp>
        <p:nvSpPr>
          <p:cNvPr id="3" name="Подзаголовок 2">
            <a:extLst>
              <a:ext uri="{FF2B5EF4-FFF2-40B4-BE49-F238E27FC236}">
                <a16:creationId xmlns:a16="http://schemas.microsoft.com/office/drawing/2014/main" id="{F95E2675-6584-4CBC-AAC4-F9E984077798}"/>
              </a:ext>
            </a:extLst>
          </p:cNvPr>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451213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A78E32-E96B-4B74-8392-DA9BA2AC8BE0}"/>
              </a:ext>
            </a:extLst>
          </p:cNvPr>
          <p:cNvSpPr>
            <a:spLocks noGrp="1"/>
          </p:cNvSpPr>
          <p:nvPr>
            <p:ph type="title"/>
          </p:nvPr>
        </p:nvSpPr>
        <p:spPr/>
        <p:txBody>
          <a:bodyPr/>
          <a:lstStyle/>
          <a:p>
            <a:r>
              <a:rPr lang="en-US" dirty="0"/>
              <a:t>2//</a:t>
            </a:r>
            <a:r>
              <a:rPr lang="ru-RU" dirty="0"/>
              <a:t>Что такое </a:t>
            </a:r>
            <a:r>
              <a:rPr lang="en-US" dirty="0"/>
              <a:t>Kubernetes</a:t>
            </a:r>
            <a:r>
              <a:rPr lang="ru-RU" dirty="0"/>
              <a:t>?</a:t>
            </a:r>
          </a:p>
        </p:txBody>
      </p:sp>
      <p:sp>
        <p:nvSpPr>
          <p:cNvPr id="3" name="Объект 2">
            <a:extLst>
              <a:ext uri="{FF2B5EF4-FFF2-40B4-BE49-F238E27FC236}">
                <a16:creationId xmlns:a16="http://schemas.microsoft.com/office/drawing/2014/main" id="{EDBE57CA-6D7E-48D5-8513-37A339A6FB1C}"/>
              </a:ext>
            </a:extLst>
          </p:cNvPr>
          <p:cNvSpPr>
            <a:spLocks noGrp="1"/>
          </p:cNvSpPr>
          <p:nvPr>
            <p:ph idx="1"/>
          </p:nvPr>
        </p:nvSpPr>
        <p:spPr/>
        <p:txBody>
          <a:bodyPr/>
          <a:lstStyle/>
          <a:p>
            <a:r>
              <a:rPr lang="ru-RU" dirty="0"/>
              <a:t>Но для начала вспомним, что такое контейнеризация?</a:t>
            </a:r>
          </a:p>
        </p:txBody>
      </p:sp>
      <p:pic>
        <p:nvPicPr>
          <p:cNvPr id="4" name="Рисунок 3">
            <a:extLst>
              <a:ext uri="{FF2B5EF4-FFF2-40B4-BE49-F238E27FC236}">
                <a16:creationId xmlns:a16="http://schemas.microsoft.com/office/drawing/2014/main" id="{0F092CDD-4B5F-484F-B113-889313D62FB5}"/>
              </a:ext>
            </a:extLst>
          </p:cNvPr>
          <p:cNvPicPr>
            <a:picLocks noChangeAspect="1"/>
          </p:cNvPicPr>
          <p:nvPr/>
        </p:nvPicPr>
        <p:blipFill>
          <a:blip r:embed="rId3"/>
          <a:stretch>
            <a:fillRect/>
          </a:stretch>
        </p:blipFill>
        <p:spPr>
          <a:xfrm>
            <a:off x="4303202" y="3429000"/>
            <a:ext cx="3585596" cy="3200400"/>
          </a:xfrm>
          <a:prstGeom prst="rect">
            <a:avLst/>
          </a:prstGeom>
        </p:spPr>
      </p:pic>
    </p:spTree>
    <p:extLst>
      <p:ext uri="{BB962C8B-B14F-4D97-AF65-F5344CB8AC3E}">
        <p14:creationId xmlns:p14="http://schemas.microsoft.com/office/powerpoint/2010/main" val="800915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A78E32-E96B-4B74-8392-DA9BA2AC8BE0}"/>
              </a:ext>
            </a:extLst>
          </p:cNvPr>
          <p:cNvSpPr>
            <a:spLocks noGrp="1"/>
          </p:cNvSpPr>
          <p:nvPr>
            <p:ph type="title"/>
          </p:nvPr>
        </p:nvSpPr>
        <p:spPr/>
        <p:txBody>
          <a:bodyPr/>
          <a:lstStyle/>
          <a:p>
            <a:r>
              <a:rPr lang="ru-RU" dirty="0"/>
              <a:t>3</a:t>
            </a:r>
            <a:r>
              <a:rPr lang="en-US" dirty="0"/>
              <a:t>//</a:t>
            </a:r>
            <a:r>
              <a:rPr lang="ru-RU" dirty="0"/>
              <a:t>Что такое контейнеризация?</a:t>
            </a:r>
          </a:p>
        </p:txBody>
      </p:sp>
      <p:sp>
        <p:nvSpPr>
          <p:cNvPr id="3" name="Объект 2">
            <a:extLst>
              <a:ext uri="{FF2B5EF4-FFF2-40B4-BE49-F238E27FC236}">
                <a16:creationId xmlns:a16="http://schemas.microsoft.com/office/drawing/2014/main" id="{EDBE57CA-6D7E-48D5-8513-37A339A6FB1C}"/>
              </a:ext>
            </a:extLst>
          </p:cNvPr>
          <p:cNvSpPr>
            <a:spLocks noGrp="1"/>
          </p:cNvSpPr>
          <p:nvPr>
            <p:ph idx="1"/>
          </p:nvPr>
        </p:nvSpPr>
        <p:spPr/>
        <p:txBody>
          <a:bodyPr/>
          <a:lstStyle/>
          <a:p>
            <a:r>
              <a:rPr lang="ru-RU" dirty="0"/>
              <a:t>Контейнеризация — метод, с помощью которого программный код упаковывается в единый исполняемый файл вместе с библиотеками и зависимостями, чтобы обеспечить его корректный запуск. Такие файлы называют контейнерами. </a:t>
            </a:r>
          </a:p>
        </p:txBody>
      </p:sp>
      <p:pic>
        <p:nvPicPr>
          <p:cNvPr id="4" name="Рисунок 3">
            <a:extLst>
              <a:ext uri="{FF2B5EF4-FFF2-40B4-BE49-F238E27FC236}">
                <a16:creationId xmlns:a16="http://schemas.microsoft.com/office/drawing/2014/main" id="{0F092CDD-4B5F-484F-B113-889313D62FB5}"/>
              </a:ext>
            </a:extLst>
          </p:cNvPr>
          <p:cNvPicPr>
            <a:picLocks noChangeAspect="1"/>
          </p:cNvPicPr>
          <p:nvPr/>
        </p:nvPicPr>
        <p:blipFill>
          <a:blip r:embed="rId3"/>
          <a:stretch>
            <a:fillRect/>
          </a:stretch>
        </p:blipFill>
        <p:spPr>
          <a:xfrm>
            <a:off x="4303202" y="3429000"/>
            <a:ext cx="3585596" cy="3200400"/>
          </a:xfrm>
          <a:prstGeom prst="rect">
            <a:avLst/>
          </a:prstGeom>
        </p:spPr>
      </p:pic>
    </p:spTree>
    <p:extLst>
      <p:ext uri="{BB962C8B-B14F-4D97-AF65-F5344CB8AC3E}">
        <p14:creationId xmlns:p14="http://schemas.microsoft.com/office/powerpoint/2010/main" val="2616425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941CAB-4744-4C21-BC35-189CB39060A7}"/>
              </a:ext>
            </a:extLst>
          </p:cNvPr>
          <p:cNvSpPr>
            <a:spLocks noGrp="1"/>
          </p:cNvSpPr>
          <p:nvPr>
            <p:ph type="title"/>
          </p:nvPr>
        </p:nvSpPr>
        <p:spPr/>
        <p:txBody>
          <a:bodyPr/>
          <a:lstStyle/>
          <a:p>
            <a:r>
              <a:rPr lang="ru-RU" dirty="0"/>
              <a:t>4</a:t>
            </a:r>
            <a:r>
              <a:rPr lang="en-US" dirty="0"/>
              <a:t>//</a:t>
            </a:r>
            <a:r>
              <a:rPr lang="ru-RU" dirty="0"/>
              <a:t>Разница между контейнером и виртуальной машиной?</a:t>
            </a:r>
          </a:p>
        </p:txBody>
      </p:sp>
      <p:sp>
        <p:nvSpPr>
          <p:cNvPr id="3" name="Объект 2">
            <a:extLst>
              <a:ext uri="{FF2B5EF4-FFF2-40B4-BE49-F238E27FC236}">
                <a16:creationId xmlns:a16="http://schemas.microsoft.com/office/drawing/2014/main" id="{263F0270-786E-4A3B-92EF-B18C94B061BF}"/>
              </a:ext>
            </a:extLst>
          </p:cNvPr>
          <p:cNvSpPr>
            <a:spLocks noGrp="1"/>
          </p:cNvSpPr>
          <p:nvPr>
            <p:ph idx="1"/>
          </p:nvPr>
        </p:nvSpPr>
        <p:spPr/>
        <p:txBody>
          <a:bodyPr/>
          <a:lstStyle/>
          <a:p>
            <a:r>
              <a:rPr lang="ru-RU" dirty="0"/>
              <a:t>В чем разница между контейнером и виртуальной машиной?</a:t>
            </a:r>
          </a:p>
          <a:p>
            <a:endParaRPr lang="ru-RU" dirty="0"/>
          </a:p>
          <a:p>
            <a:r>
              <a:rPr lang="ru-RU" dirty="0"/>
              <a:t>Что у них общего, а в чем отличия?</a:t>
            </a:r>
          </a:p>
          <a:p>
            <a:endParaRPr lang="ru-RU" dirty="0"/>
          </a:p>
          <a:p>
            <a:r>
              <a:rPr lang="ru-RU" dirty="0"/>
              <a:t>Преимущества контейнера перед виртуальной машиной?</a:t>
            </a:r>
          </a:p>
        </p:txBody>
      </p:sp>
    </p:spTree>
    <p:extLst>
      <p:ext uri="{BB962C8B-B14F-4D97-AF65-F5344CB8AC3E}">
        <p14:creationId xmlns:p14="http://schemas.microsoft.com/office/powerpoint/2010/main" val="2667423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F4EDB4-A0FB-4B8F-BC31-B255627493B1}"/>
              </a:ext>
            </a:extLst>
          </p:cNvPr>
          <p:cNvSpPr>
            <a:spLocks noGrp="1"/>
          </p:cNvSpPr>
          <p:nvPr>
            <p:ph type="title"/>
          </p:nvPr>
        </p:nvSpPr>
        <p:spPr/>
        <p:txBody>
          <a:bodyPr/>
          <a:lstStyle/>
          <a:p>
            <a:r>
              <a:rPr lang="ru-RU" dirty="0"/>
              <a:t>5</a:t>
            </a:r>
            <a:r>
              <a:rPr lang="en-US" dirty="0"/>
              <a:t>//</a:t>
            </a:r>
            <a:r>
              <a:rPr lang="ru-RU" dirty="0"/>
              <a:t>Контейнер и</a:t>
            </a:r>
            <a:r>
              <a:rPr lang="en-US" dirty="0"/>
              <a:t> </a:t>
            </a:r>
            <a:r>
              <a:rPr lang="ru-RU" dirty="0"/>
              <a:t>виртуальная машина</a:t>
            </a:r>
          </a:p>
        </p:txBody>
      </p:sp>
      <p:pic>
        <p:nvPicPr>
          <p:cNvPr id="3074" name="Picture 2" descr="Контейнеры это просто. Контейнерные технологии для начинающих">
            <a:extLst>
              <a:ext uri="{FF2B5EF4-FFF2-40B4-BE49-F238E27FC236}">
                <a16:creationId xmlns:a16="http://schemas.microsoft.com/office/drawing/2014/main" id="{771A6B21-3A61-491F-AA60-7698F2009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305719"/>
            <a:ext cx="7620000" cy="539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105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9E1ABD-4E6F-417D-A032-70A3B98243F2}"/>
              </a:ext>
            </a:extLst>
          </p:cNvPr>
          <p:cNvSpPr>
            <a:spLocks noGrp="1"/>
          </p:cNvSpPr>
          <p:nvPr>
            <p:ph type="title"/>
          </p:nvPr>
        </p:nvSpPr>
        <p:spPr/>
        <p:txBody>
          <a:bodyPr/>
          <a:lstStyle/>
          <a:p>
            <a:r>
              <a:rPr lang="ru-RU" dirty="0"/>
              <a:t>6</a:t>
            </a:r>
            <a:r>
              <a:rPr lang="en-US" dirty="0"/>
              <a:t>//</a:t>
            </a:r>
            <a:r>
              <a:rPr lang="ru-RU" dirty="0"/>
              <a:t>Что такое </a:t>
            </a:r>
            <a:r>
              <a:rPr lang="en-US" dirty="0"/>
              <a:t>Docker?</a:t>
            </a:r>
            <a:endParaRPr lang="ru-RU" dirty="0"/>
          </a:p>
        </p:txBody>
      </p:sp>
      <p:sp>
        <p:nvSpPr>
          <p:cNvPr id="3" name="Объект 2">
            <a:extLst>
              <a:ext uri="{FF2B5EF4-FFF2-40B4-BE49-F238E27FC236}">
                <a16:creationId xmlns:a16="http://schemas.microsoft.com/office/drawing/2014/main" id="{822ED9EA-7866-478F-8A6E-1998EFCA8B4C}"/>
              </a:ext>
            </a:extLst>
          </p:cNvPr>
          <p:cNvSpPr>
            <a:spLocks noGrp="1"/>
          </p:cNvSpPr>
          <p:nvPr>
            <p:ph idx="1"/>
          </p:nvPr>
        </p:nvSpPr>
        <p:spPr/>
        <p:txBody>
          <a:bodyPr/>
          <a:lstStyle/>
          <a:p>
            <a:r>
              <a:rPr lang="ru-RU" dirty="0"/>
              <a:t>Для чего он нужен?</a:t>
            </a:r>
            <a:r>
              <a:rPr lang="en-US" dirty="0"/>
              <a:t> </a:t>
            </a:r>
            <a:r>
              <a:rPr lang="ru-RU" dirty="0"/>
              <a:t>Как появился?</a:t>
            </a:r>
          </a:p>
          <a:p>
            <a:endParaRPr lang="ru-RU" dirty="0"/>
          </a:p>
          <a:p>
            <a:pPr marL="0" indent="0">
              <a:buNone/>
            </a:pPr>
            <a:endParaRPr lang="ru-RU" dirty="0"/>
          </a:p>
        </p:txBody>
      </p:sp>
      <p:pic>
        <p:nvPicPr>
          <p:cNvPr id="4" name="Рисунок 3">
            <a:extLst>
              <a:ext uri="{FF2B5EF4-FFF2-40B4-BE49-F238E27FC236}">
                <a16:creationId xmlns:a16="http://schemas.microsoft.com/office/drawing/2014/main" id="{EF6897F9-18D6-4F2C-B410-5468DECE6489}"/>
              </a:ext>
            </a:extLst>
          </p:cNvPr>
          <p:cNvPicPr>
            <a:picLocks noChangeAspect="1"/>
          </p:cNvPicPr>
          <p:nvPr/>
        </p:nvPicPr>
        <p:blipFill>
          <a:blip r:embed="rId2"/>
          <a:stretch>
            <a:fillRect/>
          </a:stretch>
        </p:blipFill>
        <p:spPr>
          <a:xfrm>
            <a:off x="4303202" y="3429000"/>
            <a:ext cx="3585596" cy="3200400"/>
          </a:xfrm>
          <a:prstGeom prst="rect">
            <a:avLst/>
          </a:prstGeom>
        </p:spPr>
      </p:pic>
    </p:spTree>
    <p:extLst>
      <p:ext uri="{BB962C8B-B14F-4D97-AF65-F5344CB8AC3E}">
        <p14:creationId xmlns:p14="http://schemas.microsoft.com/office/powerpoint/2010/main" val="3350378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F190FE-05CC-46CC-A918-04235F9CD6EE}"/>
              </a:ext>
            </a:extLst>
          </p:cNvPr>
          <p:cNvSpPr>
            <a:spLocks noGrp="1"/>
          </p:cNvSpPr>
          <p:nvPr>
            <p:ph type="title"/>
          </p:nvPr>
        </p:nvSpPr>
        <p:spPr/>
        <p:txBody>
          <a:bodyPr/>
          <a:lstStyle/>
          <a:p>
            <a:r>
              <a:rPr lang="ru-RU" dirty="0"/>
              <a:t>7</a:t>
            </a:r>
            <a:r>
              <a:rPr lang="en-US" dirty="0"/>
              <a:t>//Docker</a:t>
            </a:r>
            <a:endParaRPr lang="ru-RU" dirty="0"/>
          </a:p>
        </p:txBody>
      </p:sp>
      <p:sp>
        <p:nvSpPr>
          <p:cNvPr id="3" name="Объект 2">
            <a:extLst>
              <a:ext uri="{FF2B5EF4-FFF2-40B4-BE49-F238E27FC236}">
                <a16:creationId xmlns:a16="http://schemas.microsoft.com/office/drawing/2014/main" id="{FCF3D9B7-2869-444B-BAC1-FC6B6DFA7CDB}"/>
              </a:ext>
            </a:extLst>
          </p:cNvPr>
          <p:cNvSpPr>
            <a:spLocks noGrp="1"/>
          </p:cNvSpPr>
          <p:nvPr>
            <p:ph idx="1"/>
          </p:nvPr>
        </p:nvSpPr>
        <p:spPr/>
        <p:txBody>
          <a:bodyPr/>
          <a:lstStyle/>
          <a:p>
            <a:r>
              <a:rPr lang="ru-RU" dirty="0" err="1"/>
              <a:t>Docker</a:t>
            </a:r>
            <a:r>
              <a:rPr lang="ru-RU" dirty="0"/>
              <a:t> — это платформа с открытым исходным кодом, которая позволяет разработчикам создавать, развертывать, запускать, обновлять и управлять контейнерами — стандартизированными исполняемыми компонентами, объединяющими исходный код приложения с библиотеками операционной системы (ОС) и зависимостями, необходимыми для запуска этого кода в любой среде.</a:t>
            </a:r>
          </a:p>
        </p:txBody>
      </p:sp>
      <p:pic>
        <p:nvPicPr>
          <p:cNvPr id="4" name="Рисунок 3">
            <a:extLst>
              <a:ext uri="{FF2B5EF4-FFF2-40B4-BE49-F238E27FC236}">
                <a16:creationId xmlns:a16="http://schemas.microsoft.com/office/drawing/2014/main" id="{935B9298-E500-4A35-8CA1-77FFD86992B0}"/>
              </a:ext>
            </a:extLst>
          </p:cNvPr>
          <p:cNvPicPr>
            <a:picLocks noChangeAspect="1"/>
          </p:cNvPicPr>
          <p:nvPr/>
        </p:nvPicPr>
        <p:blipFill>
          <a:blip r:embed="rId3"/>
          <a:stretch>
            <a:fillRect/>
          </a:stretch>
        </p:blipFill>
        <p:spPr>
          <a:xfrm>
            <a:off x="4303202" y="3814011"/>
            <a:ext cx="3585596" cy="3200400"/>
          </a:xfrm>
          <a:prstGeom prst="rect">
            <a:avLst/>
          </a:prstGeom>
        </p:spPr>
      </p:pic>
    </p:spTree>
    <p:extLst>
      <p:ext uri="{BB962C8B-B14F-4D97-AF65-F5344CB8AC3E}">
        <p14:creationId xmlns:p14="http://schemas.microsoft.com/office/powerpoint/2010/main" val="2790774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66D640-0C44-44F7-8814-3CFC25722E83}"/>
              </a:ext>
            </a:extLst>
          </p:cNvPr>
          <p:cNvSpPr>
            <a:spLocks noGrp="1"/>
          </p:cNvSpPr>
          <p:nvPr>
            <p:ph type="title"/>
          </p:nvPr>
        </p:nvSpPr>
        <p:spPr/>
        <p:txBody>
          <a:bodyPr/>
          <a:lstStyle/>
          <a:p>
            <a:r>
              <a:rPr lang="en-US" dirty="0"/>
              <a:t>16//</a:t>
            </a:r>
            <a:r>
              <a:rPr lang="ru-RU" dirty="0"/>
              <a:t>Вернемся к </a:t>
            </a:r>
            <a:r>
              <a:rPr lang="en-US" dirty="0"/>
              <a:t>Kubernetes?</a:t>
            </a:r>
            <a:endParaRPr lang="ru-RU" dirty="0"/>
          </a:p>
        </p:txBody>
      </p:sp>
      <p:sp>
        <p:nvSpPr>
          <p:cNvPr id="3" name="Объект 2">
            <a:extLst>
              <a:ext uri="{FF2B5EF4-FFF2-40B4-BE49-F238E27FC236}">
                <a16:creationId xmlns:a16="http://schemas.microsoft.com/office/drawing/2014/main" id="{07C0512C-8A4D-46E9-AF03-E0893ABDE7FB}"/>
              </a:ext>
            </a:extLst>
          </p:cNvPr>
          <p:cNvSpPr>
            <a:spLocks noGrp="1"/>
          </p:cNvSpPr>
          <p:nvPr>
            <p:ph idx="1"/>
          </p:nvPr>
        </p:nvSpPr>
        <p:spPr/>
        <p:txBody>
          <a:bodyPr>
            <a:normAutofit/>
          </a:bodyPr>
          <a:lstStyle/>
          <a:p>
            <a:r>
              <a:rPr lang="ru-RU" dirty="0" err="1"/>
              <a:t>Kubernetes</a:t>
            </a:r>
            <a:r>
              <a:rPr lang="ru-RU" dirty="0"/>
              <a:t> - операционная система для облачных решений, представляющая собой открытую платформу для управления кластерами контейнерных приложений и сервисов. </a:t>
            </a:r>
          </a:p>
          <a:p>
            <a:endParaRPr lang="ru-RU" dirty="0"/>
          </a:p>
        </p:txBody>
      </p:sp>
      <p:pic>
        <p:nvPicPr>
          <p:cNvPr id="1026" name="Picture 2" descr="K8s - What Is Kubernetes?">
            <a:extLst>
              <a:ext uri="{FF2B5EF4-FFF2-40B4-BE49-F238E27FC236}">
                <a16:creationId xmlns:a16="http://schemas.microsoft.com/office/drawing/2014/main" id="{333D6222-1AE3-4A14-B625-9D2A9EE3DE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0739" y="3302252"/>
            <a:ext cx="5850522" cy="3555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952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347CA-8185-411B-A0B2-A04ED90FDF6A}"/>
              </a:ext>
            </a:extLst>
          </p:cNvPr>
          <p:cNvSpPr>
            <a:spLocks noGrp="1"/>
          </p:cNvSpPr>
          <p:nvPr>
            <p:ph type="title"/>
          </p:nvPr>
        </p:nvSpPr>
        <p:spPr/>
        <p:txBody>
          <a:bodyPr/>
          <a:lstStyle/>
          <a:p>
            <a:r>
              <a:rPr lang="en-US" dirty="0"/>
              <a:t>17//</a:t>
            </a:r>
            <a:r>
              <a:rPr lang="ru-RU" dirty="0"/>
              <a:t>Для чего используется?</a:t>
            </a:r>
          </a:p>
        </p:txBody>
      </p:sp>
      <p:sp>
        <p:nvSpPr>
          <p:cNvPr id="3" name="Объект 2">
            <a:extLst>
              <a:ext uri="{FF2B5EF4-FFF2-40B4-BE49-F238E27FC236}">
                <a16:creationId xmlns:a16="http://schemas.microsoft.com/office/drawing/2014/main" id="{22FF9E2B-C357-4377-98AC-02D2D07233FE}"/>
              </a:ext>
            </a:extLst>
          </p:cNvPr>
          <p:cNvSpPr>
            <a:spLocks noGrp="1"/>
          </p:cNvSpPr>
          <p:nvPr>
            <p:ph idx="1"/>
          </p:nvPr>
        </p:nvSpPr>
        <p:spPr>
          <a:xfrm>
            <a:off x="838200" y="1825625"/>
            <a:ext cx="6172200" cy="4545890"/>
          </a:xfrm>
        </p:spPr>
        <p:txBody>
          <a:bodyPr>
            <a:normAutofit/>
          </a:bodyPr>
          <a:lstStyle/>
          <a:p>
            <a:r>
              <a:rPr lang="ru-RU" dirty="0"/>
              <a:t>Контейнеры — хороший способ объединить и запустить ваши приложения. </a:t>
            </a:r>
          </a:p>
          <a:p>
            <a:r>
              <a:rPr lang="ru-RU" dirty="0" err="1"/>
              <a:t>Kubernetes</a:t>
            </a:r>
            <a:r>
              <a:rPr lang="ru-RU" dirty="0"/>
              <a:t> предоставляет вам платформу для устойчивой работы распределенных систем. Он обеспечивает масштабирование и аварийное переключение вашего приложения, предоставляет шаблоны развертывания и многое другое. </a:t>
            </a:r>
          </a:p>
        </p:txBody>
      </p:sp>
      <p:pic>
        <p:nvPicPr>
          <p:cNvPr id="2052" name="Picture 4" descr="Kubernetes Services; Expose your app to the Internet - DEV Community">
            <a:extLst>
              <a:ext uri="{FF2B5EF4-FFF2-40B4-BE49-F238E27FC236}">
                <a16:creationId xmlns:a16="http://schemas.microsoft.com/office/drawing/2014/main" id="{B94417E6-00DA-48D8-BE25-73E889FBD6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7126" y="1631073"/>
            <a:ext cx="4740442" cy="4740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265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502F39-7FBD-4AFA-9655-8D9F56E3C87E}"/>
              </a:ext>
            </a:extLst>
          </p:cNvPr>
          <p:cNvSpPr>
            <a:spLocks noGrp="1"/>
          </p:cNvSpPr>
          <p:nvPr>
            <p:ph type="title"/>
          </p:nvPr>
        </p:nvSpPr>
        <p:spPr/>
        <p:txBody>
          <a:bodyPr/>
          <a:lstStyle/>
          <a:p>
            <a:r>
              <a:rPr lang="en-US" dirty="0"/>
              <a:t>1</a:t>
            </a:r>
            <a:r>
              <a:rPr lang="ru-RU" dirty="0"/>
              <a:t>8</a:t>
            </a:r>
            <a:r>
              <a:rPr lang="en-US" dirty="0"/>
              <a:t>//</a:t>
            </a:r>
            <a:r>
              <a:rPr lang="ru-RU" dirty="0"/>
              <a:t>Возможности </a:t>
            </a:r>
            <a:r>
              <a:rPr lang="en-US" dirty="0"/>
              <a:t>k8s</a:t>
            </a:r>
            <a:endParaRPr lang="ru-RU" dirty="0"/>
          </a:p>
        </p:txBody>
      </p:sp>
      <p:sp>
        <p:nvSpPr>
          <p:cNvPr id="3" name="Объект 2">
            <a:extLst>
              <a:ext uri="{FF2B5EF4-FFF2-40B4-BE49-F238E27FC236}">
                <a16:creationId xmlns:a16="http://schemas.microsoft.com/office/drawing/2014/main" id="{23EC759A-6FCF-445B-9E83-CE367EC23CD0}"/>
              </a:ext>
            </a:extLst>
          </p:cNvPr>
          <p:cNvSpPr>
            <a:spLocks noGrp="1"/>
          </p:cNvSpPr>
          <p:nvPr>
            <p:ph sz="half" idx="1"/>
          </p:nvPr>
        </p:nvSpPr>
        <p:spPr/>
        <p:txBody>
          <a:bodyPr>
            <a:normAutofit/>
          </a:bodyPr>
          <a:lstStyle/>
          <a:p>
            <a:r>
              <a:rPr lang="ru-RU" dirty="0"/>
              <a:t>Обнаружение служб и балансировка нагрузки</a:t>
            </a:r>
          </a:p>
          <a:p>
            <a:r>
              <a:rPr lang="ru-RU" dirty="0" err="1"/>
              <a:t>Оркестрация</a:t>
            </a:r>
            <a:r>
              <a:rPr lang="ru-RU" dirty="0"/>
              <a:t> хранилища</a:t>
            </a:r>
          </a:p>
          <a:p>
            <a:r>
              <a:rPr lang="ru-RU" dirty="0"/>
              <a:t>Автоматизированное развертывание и откат</a:t>
            </a:r>
          </a:p>
          <a:p>
            <a:r>
              <a:rPr lang="ru-RU" dirty="0"/>
              <a:t>Автоматическая упаковка контейнеров</a:t>
            </a:r>
          </a:p>
          <a:p>
            <a:r>
              <a:rPr lang="ru-RU" dirty="0"/>
              <a:t>Самовосстановление</a:t>
            </a:r>
          </a:p>
          <a:p>
            <a:endParaRPr lang="ru-RU" dirty="0"/>
          </a:p>
        </p:txBody>
      </p:sp>
      <p:sp>
        <p:nvSpPr>
          <p:cNvPr id="4" name="Объект 3">
            <a:extLst>
              <a:ext uri="{FF2B5EF4-FFF2-40B4-BE49-F238E27FC236}">
                <a16:creationId xmlns:a16="http://schemas.microsoft.com/office/drawing/2014/main" id="{CA55CAFE-6A18-406F-AE94-9143159CA483}"/>
              </a:ext>
            </a:extLst>
          </p:cNvPr>
          <p:cNvSpPr>
            <a:spLocks noGrp="1"/>
          </p:cNvSpPr>
          <p:nvPr>
            <p:ph sz="half" idx="2"/>
          </p:nvPr>
        </p:nvSpPr>
        <p:spPr/>
        <p:txBody>
          <a:bodyPr>
            <a:normAutofit/>
          </a:bodyPr>
          <a:lstStyle/>
          <a:p>
            <a:r>
              <a:rPr lang="ru-RU" dirty="0"/>
              <a:t>Управление секретами и конфигурациями</a:t>
            </a:r>
          </a:p>
          <a:p>
            <a:r>
              <a:rPr lang="ru-RU" dirty="0"/>
              <a:t>Пакетное выполнение</a:t>
            </a:r>
          </a:p>
          <a:p>
            <a:r>
              <a:rPr lang="ru-RU" dirty="0"/>
              <a:t>Горизонтальное масштабирование</a:t>
            </a:r>
          </a:p>
          <a:p>
            <a:r>
              <a:rPr lang="ru-RU" dirty="0"/>
              <a:t>Двойной стек IPv4/IPv6</a:t>
            </a:r>
          </a:p>
          <a:p>
            <a:r>
              <a:rPr lang="ru-RU" dirty="0"/>
              <a:t>Расширяемость</a:t>
            </a:r>
          </a:p>
          <a:p>
            <a:endParaRPr lang="ru-RU" dirty="0"/>
          </a:p>
        </p:txBody>
      </p:sp>
    </p:spTree>
    <p:extLst>
      <p:ext uri="{BB962C8B-B14F-4D97-AF65-F5344CB8AC3E}">
        <p14:creationId xmlns:p14="http://schemas.microsoft.com/office/powerpoint/2010/main" val="2916761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805AC548-605B-469A-B431-21862DA0032F}"/>
              </a:ext>
            </a:extLst>
          </p:cNvPr>
          <p:cNvSpPr>
            <a:spLocks noGrp="1"/>
          </p:cNvSpPr>
          <p:nvPr>
            <p:ph type="title"/>
          </p:nvPr>
        </p:nvSpPr>
        <p:spPr/>
        <p:txBody>
          <a:bodyPr/>
          <a:lstStyle/>
          <a:p>
            <a:r>
              <a:rPr lang="ru-RU" dirty="0"/>
              <a:t>19</a:t>
            </a:r>
            <a:r>
              <a:rPr lang="en-US" dirty="0"/>
              <a:t>//</a:t>
            </a:r>
            <a:r>
              <a:rPr lang="ru-RU" dirty="0"/>
              <a:t>Чем </a:t>
            </a:r>
            <a:r>
              <a:rPr lang="en-US" dirty="0"/>
              <a:t>Kubernetes </a:t>
            </a:r>
            <a:r>
              <a:rPr lang="ru-RU" dirty="0"/>
              <a:t>не является?</a:t>
            </a:r>
          </a:p>
        </p:txBody>
      </p:sp>
      <p:sp>
        <p:nvSpPr>
          <p:cNvPr id="6" name="Объект 5">
            <a:extLst>
              <a:ext uri="{FF2B5EF4-FFF2-40B4-BE49-F238E27FC236}">
                <a16:creationId xmlns:a16="http://schemas.microsoft.com/office/drawing/2014/main" id="{30C313DF-5910-428D-B436-BEA5C3A0D665}"/>
              </a:ext>
            </a:extLst>
          </p:cNvPr>
          <p:cNvSpPr>
            <a:spLocks noGrp="1"/>
          </p:cNvSpPr>
          <p:nvPr>
            <p:ph idx="1"/>
          </p:nvPr>
        </p:nvSpPr>
        <p:spPr/>
        <p:txBody>
          <a:bodyPr>
            <a:normAutofit fontScale="92500" lnSpcReduction="10000"/>
          </a:bodyPr>
          <a:lstStyle/>
          <a:p>
            <a:pPr>
              <a:lnSpc>
                <a:spcPct val="100000"/>
              </a:lnSpc>
              <a:spcBef>
                <a:spcPts val="0"/>
              </a:spcBef>
              <a:defRPr/>
            </a:pPr>
            <a:r>
              <a:rPr lang="ru-RU" dirty="0"/>
              <a:t>Если приложение может работать в контейнере, оно должно отлично работать и в </a:t>
            </a:r>
            <a:r>
              <a:rPr lang="ru-RU" dirty="0" err="1"/>
              <a:t>Kubernetes</a:t>
            </a:r>
            <a:r>
              <a:rPr lang="ru-RU" dirty="0"/>
              <a:t>.</a:t>
            </a:r>
          </a:p>
          <a:p>
            <a:r>
              <a:rPr lang="ru-RU" dirty="0"/>
              <a:t>Не развертывает исходный код и не собирает ваше приложение. </a:t>
            </a:r>
          </a:p>
          <a:p>
            <a:r>
              <a:rPr lang="ru-RU" dirty="0"/>
              <a:t>Не диктует решения для ведения логирования и мониторинга. </a:t>
            </a:r>
          </a:p>
          <a:p>
            <a:r>
              <a:rPr lang="ru-RU" dirty="0"/>
              <a:t>Не предоставляет и не применяет какие-либо комплексные системы конфигурации, обслуживания, управления или самовосстановления машины.</a:t>
            </a:r>
          </a:p>
          <a:p>
            <a:r>
              <a:rPr lang="ru-RU" dirty="0" err="1"/>
              <a:t>Kubernetes</a:t>
            </a:r>
            <a:r>
              <a:rPr lang="ru-RU" dirty="0"/>
              <a:t> включает в себя набор независимых, компонуемых процессов управления, которые непрерывно приводят текущее состояние к заданному желаемому состоянию. Неважно, как вы доберетесь от А до С. </a:t>
            </a:r>
          </a:p>
          <a:p>
            <a:endParaRPr lang="ru-RU" dirty="0"/>
          </a:p>
        </p:txBody>
      </p:sp>
    </p:spTree>
    <p:extLst>
      <p:ext uri="{BB962C8B-B14F-4D97-AF65-F5344CB8AC3E}">
        <p14:creationId xmlns:p14="http://schemas.microsoft.com/office/powerpoint/2010/main" val="3489254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81F15F-3CD0-4980-A0CA-073C7551B224}"/>
              </a:ext>
            </a:extLst>
          </p:cNvPr>
          <p:cNvSpPr>
            <a:spLocks noGrp="1"/>
          </p:cNvSpPr>
          <p:nvPr>
            <p:ph type="title"/>
          </p:nvPr>
        </p:nvSpPr>
        <p:spPr>
          <a:xfrm>
            <a:off x="0" y="-244475"/>
            <a:ext cx="10515600" cy="1325563"/>
          </a:xfrm>
        </p:spPr>
        <p:txBody>
          <a:bodyPr/>
          <a:lstStyle/>
          <a:p>
            <a:r>
              <a:rPr lang="ru-RU" dirty="0"/>
              <a:t>20</a:t>
            </a:r>
            <a:r>
              <a:rPr lang="en-US" dirty="0"/>
              <a:t>//</a:t>
            </a:r>
            <a:r>
              <a:rPr lang="ru-RU" dirty="0"/>
              <a:t>Архитектура </a:t>
            </a:r>
            <a:r>
              <a:rPr lang="en-US" dirty="0"/>
              <a:t>Kubernetes</a:t>
            </a:r>
            <a:endParaRPr lang="ru-RU" dirty="0"/>
          </a:p>
        </p:txBody>
      </p:sp>
      <p:pic>
        <p:nvPicPr>
          <p:cNvPr id="3074" name="Picture 2" descr="https://meowing-crime-ecb.notion.site/image/https%3A%2F%2Fprod-files-secure.s3.us-west-2.amazonaws.com%2Faf77c0b9-ca74-4e38-80af-080d51befa60%2F4e8e7b37-3439-4726-8dc1-315ebf31d549%2FUntitled.png?table=block&amp;id=88c45b24-06e5-4d40-b9ea-9aa433ade4fa&amp;spaceId=af77c0b9-ca74-4e38-80af-080d51befa60&amp;width=2000&amp;userId=&amp;cache=v2">
            <a:extLst>
              <a:ext uri="{FF2B5EF4-FFF2-40B4-BE49-F238E27FC236}">
                <a16:creationId xmlns:a16="http://schemas.microsoft.com/office/drawing/2014/main" id="{DA4B5204-E6CE-4AEB-8333-BDCA5C43FCE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8831" y="718719"/>
            <a:ext cx="10515599" cy="6590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912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9F4D6E-74D2-4C91-9C9E-2E20CF5099EC}"/>
              </a:ext>
            </a:extLst>
          </p:cNvPr>
          <p:cNvSpPr>
            <a:spLocks noGrp="1"/>
          </p:cNvSpPr>
          <p:nvPr>
            <p:ph type="title"/>
          </p:nvPr>
        </p:nvSpPr>
        <p:spPr/>
        <p:txBody>
          <a:bodyPr/>
          <a:lstStyle/>
          <a:p>
            <a:r>
              <a:rPr lang="ru-RU" dirty="0"/>
              <a:t>21</a:t>
            </a:r>
            <a:r>
              <a:rPr lang="en-US" dirty="0"/>
              <a:t>//</a:t>
            </a:r>
            <a:r>
              <a:rPr lang="ru-RU" dirty="0"/>
              <a:t>Архитектура </a:t>
            </a:r>
            <a:r>
              <a:rPr lang="en-US" dirty="0"/>
              <a:t>Kubernetes</a:t>
            </a:r>
            <a:endParaRPr lang="ru-RU" dirty="0"/>
          </a:p>
        </p:txBody>
      </p:sp>
      <p:sp>
        <p:nvSpPr>
          <p:cNvPr id="3" name="Объект 2">
            <a:extLst>
              <a:ext uri="{FF2B5EF4-FFF2-40B4-BE49-F238E27FC236}">
                <a16:creationId xmlns:a16="http://schemas.microsoft.com/office/drawing/2014/main" id="{486C0434-E6A6-412F-9783-B15CDF395059}"/>
              </a:ext>
            </a:extLst>
          </p:cNvPr>
          <p:cNvSpPr>
            <a:spLocks noGrp="1"/>
          </p:cNvSpPr>
          <p:nvPr>
            <p:ph idx="1"/>
          </p:nvPr>
        </p:nvSpPr>
        <p:spPr/>
        <p:txBody>
          <a:bodyPr>
            <a:normAutofit fontScale="92500" lnSpcReduction="10000"/>
          </a:bodyPr>
          <a:lstStyle/>
          <a:p>
            <a:pPr marL="0" indent="0">
              <a:buNone/>
            </a:pPr>
            <a:r>
              <a:rPr lang="ru-RU" b="1" i="1" dirty="0"/>
              <a:t>	Кластер</a:t>
            </a:r>
            <a:endParaRPr lang="ru-RU" dirty="0"/>
          </a:p>
          <a:p>
            <a:r>
              <a:rPr lang="ru-RU" dirty="0"/>
              <a:t>В кластере обязательно есть хотя бы одна </a:t>
            </a:r>
            <a:r>
              <a:rPr lang="ru-RU" dirty="0" err="1"/>
              <a:t>нода</a:t>
            </a:r>
            <a:r>
              <a:rPr lang="ru-RU" dirty="0"/>
              <a:t>. Она состоит из набора машин, которые запускают контейнерные приложения. Обычно на одной </a:t>
            </a:r>
            <a:r>
              <a:rPr lang="ru-RU" dirty="0" err="1"/>
              <a:t>ноде</a:t>
            </a:r>
            <a:r>
              <a:rPr lang="ru-RU" dirty="0"/>
              <a:t> кластер не ограничивается, поскольку дополнительные </a:t>
            </a:r>
            <a:r>
              <a:rPr lang="ru-RU" dirty="0" err="1"/>
              <a:t>ноды</a:t>
            </a:r>
            <a:r>
              <a:rPr lang="ru-RU" dirty="0"/>
              <a:t> решают проблему </a:t>
            </a:r>
            <a:r>
              <a:rPr lang="ru-RU" dirty="0" err="1"/>
              <a:t>отказустойчивости</a:t>
            </a:r>
            <a:r>
              <a:rPr lang="ru-RU" dirty="0"/>
              <a:t>.</a:t>
            </a:r>
          </a:p>
          <a:p>
            <a:pPr marL="0" indent="0">
              <a:buNone/>
            </a:pPr>
            <a:r>
              <a:rPr lang="ru-RU" b="1" i="1" dirty="0"/>
              <a:t>	</a:t>
            </a:r>
            <a:r>
              <a:rPr lang="ru-RU" b="1" i="1" dirty="0" err="1"/>
              <a:t>Nods</a:t>
            </a:r>
            <a:r>
              <a:rPr lang="ru-RU" b="1" i="1" dirty="0"/>
              <a:t> (узлы)</a:t>
            </a:r>
            <a:endParaRPr lang="ru-RU" dirty="0"/>
          </a:p>
          <a:p>
            <a:r>
              <a:rPr lang="ru-RU" dirty="0"/>
              <a:t>Это физические или виртуальные машины, на которых развертываются и запускаются контейнеры с приложениями. Каждый узел содержит сервисы, необходимые для запуска подов.</a:t>
            </a:r>
          </a:p>
          <a:p>
            <a:r>
              <a:rPr lang="ru-RU" dirty="0"/>
              <a:t>Обычно в кластере есть несколько узлов, но в среде обучения или среде с ограниченными ресурсами можно использовать один.</a:t>
            </a:r>
          </a:p>
        </p:txBody>
      </p:sp>
    </p:spTree>
    <p:extLst>
      <p:ext uri="{BB962C8B-B14F-4D97-AF65-F5344CB8AC3E}">
        <p14:creationId xmlns:p14="http://schemas.microsoft.com/office/powerpoint/2010/main" val="3740902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231DE7-3B4C-4487-A8B8-76BF97EB9501}"/>
              </a:ext>
            </a:extLst>
          </p:cNvPr>
          <p:cNvSpPr>
            <a:spLocks noGrp="1"/>
          </p:cNvSpPr>
          <p:nvPr>
            <p:ph type="title"/>
          </p:nvPr>
        </p:nvSpPr>
        <p:spPr/>
        <p:txBody>
          <a:bodyPr/>
          <a:lstStyle/>
          <a:p>
            <a:r>
              <a:rPr lang="ru-RU" dirty="0"/>
              <a:t>22</a:t>
            </a:r>
            <a:r>
              <a:rPr lang="en-US" dirty="0"/>
              <a:t>//</a:t>
            </a:r>
            <a:r>
              <a:rPr lang="ru-RU" dirty="0"/>
              <a:t>Типы </a:t>
            </a:r>
            <a:r>
              <a:rPr lang="ru-RU" dirty="0" err="1"/>
              <a:t>нод</a:t>
            </a:r>
            <a:endParaRPr lang="ru-RU" dirty="0"/>
          </a:p>
        </p:txBody>
      </p:sp>
      <p:sp>
        <p:nvSpPr>
          <p:cNvPr id="3" name="Объект 2">
            <a:extLst>
              <a:ext uri="{FF2B5EF4-FFF2-40B4-BE49-F238E27FC236}">
                <a16:creationId xmlns:a16="http://schemas.microsoft.com/office/drawing/2014/main" id="{F55757D4-82EB-499F-BD20-2AAE1EE3192C}"/>
              </a:ext>
            </a:extLst>
          </p:cNvPr>
          <p:cNvSpPr>
            <a:spLocks noGrp="1"/>
          </p:cNvSpPr>
          <p:nvPr>
            <p:ph idx="1"/>
          </p:nvPr>
        </p:nvSpPr>
        <p:spPr/>
        <p:txBody>
          <a:bodyPr>
            <a:normAutofit/>
          </a:bodyPr>
          <a:lstStyle/>
          <a:p>
            <a:endParaRPr lang="ru-RU" dirty="0"/>
          </a:p>
        </p:txBody>
      </p:sp>
      <p:pic>
        <p:nvPicPr>
          <p:cNvPr id="4" name="Рисунок 3">
            <a:extLst>
              <a:ext uri="{FF2B5EF4-FFF2-40B4-BE49-F238E27FC236}">
                <a16:creationId xmlns:a16="http://schemas.microsoft.com/office/drawing/2014/main" id="{2315E921-4340-4375-A309-CD78AA83A896}"/>
              </a:ext>
            </a:extLst>
          </p:cNvPr>
          <p:cNvPicPr>
            <a:picLocks noChangeAspect="1"/>
          </p:cNvPicPr>
          <p:nvPr/>
        </p:nvPicPr>
        <p:blipFill rotWithShape="1">
          <a:blip r:embed="rId3"/>
          <a:srcRect t="6081" b="4716"/>
          <a:stretch/>
        </p:blipFill>
        <p:spPr>
          <a:xfrm>
            <a:off x="0" y="1690688"/>
            <a:ext cx="12192000" cy="5085348"/>
          </a:xfrm>
          <a:prstGeom prst="rect">
            <a:avLst/>
          </a:prstGeom>
        </p:spPr>
      </p:pic>
    </p:spTree>
    <p:extLst>
      <p:ext uri="{BB962C8B-B14F-4D97-AF65-F5344CB8AC3E}">
        <p14:creationId xmlns:p14="http://schemas.microsoft.com/office/powerpoint/2010/main" val="843210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CB696E-F595-4FAB-9F41-5011247E948B}"/>
              </a:ext>
            </a:extLst>
          </p:cNvPr>
          <p:cNvSpPr>
            <a:spLocks noGrp="1"/>
          </p:cNvSpPr>
          <p:nvPr>
            <p:ph type="title"/>
          </p:nvPr>
        </p:nvSpPr>
        <p:spPr/>
        <p:txBody>
          <a:bodyPr/>
          <a:lstStyle/>
          <a:p>
            <a:r>
              <a:rPr lang="en-US" dirty="0"/>
              <a:t>23//Pods (</a:t>
            </a:r>
            <a:r>
              <a:rPr lang="ru-RU" dirty="0"/>
              <a:t>отсеки)</a:t>
            </a:r>
          </a:p>
        </p:txBody>
      </p:sp>
      <p:sp>
        <p:nvSpPr>
          <p:cNvPr id="3" name="Объект 2">
            <a:extLst>
              <a:ext uri="{FF2B5EF4-FFF2-40B4-BE49-F238E27FC236}">
                <a16:creationId xmlns:a16="http://schemas.microsoft.com/office/drawing/2014/main" id="{3C6D0E57-5FE7-4DA5-8875-381845FC1E3B}"/>
              </a:ext>
            </a:extLst>
          </p:cNvPr>
          <p:cNvSpPr>
            <a:spLocks noGrp="1"/>
          </p:cNvSpPr>
          <p:nvPr>
            <p:ph idx="1"/>
          </p:nvPr>
        </p:nvSpPr>
        <p:spPr/>
        <p:txBody>
          <a:bodyPr/>
          <a:lstStyle/>
          <a:p>
            <a:endParaRPr lang="ru-RU" dirty="0"/>
          </a:p>
        </p:txBody>
      </p:sp>
      <p:pic>
        <p:nvPicPr>
          <p:cNvPr id="4" name="Рисунок 3">
            <a:extLst>
              <a:ext uri="{FF2B5EF4-FFF2-40B4-BE49-F238E27FC236}">
                <a16:creationId xmlns:a16="http://schemas.microsoft.com/office/drawing/2014/main" id="{431D1778-7F75-4BEC-9AED-C8B21F1EC8FF}"/>
              </a:ext>
            </a:extLst>
          </p:cNvPr>
          <p:cNvPicPr>
            <a:picLocks noChangeAspect="1"/>
          </p:cNvPicPr>
          <p:nvPr/>
        </p:nvPicPr>
        <p:blipFill>
          <a:blip r:embed="rId3"/>
          <a:stretch>
            <a:fillRect/>
          </a:stretch>
        </p:blipFill>
        <p:spPr>
          <a:xfrm>
            <a:off x="1381125" y="1600200"/>
            <a:ext cx="9429750" cy="5257800"/>
          </a:xfrm>
          <a:prstGeom prst="rect">
            <a:avLst/>
          </a:prstGeom>
        </p:spPr>
      </p:pic>
    </p:spTree>
    <p:extLst>
      <p:ext uri="{BB962C8B-B14F-4D97-AF65-F5344CB8AC3E}">
        <p14:creationId xmlns:p14="http://schemas.microsoft.com/office/powerpoint/2010/main" val="470654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94D03A-01E1-4019-8109-E1863EACBBAD}"/>
              </a:ext>
            </a:extLst>
          </p:cNvPr>
          <p:cNvSpPr>
            <a:spLocks noGrp="1"/>
          </p:cNvSpPr>
          <p:nvPr>
            <p:ph type="title"/>
          </p:nvPr>
        </p:nvSpPr>
        <p:spPr/>
        <p:txBody>
          <a:bodyPr/>
          <a:lstStyle/>
          <a:p>
            <a:r>
              <a:rPr lang="en-US" dirty="0"/>
              <a:t>2</a:t>
            </a:r>
            <a:r>
              <a:rPr lang="ru-RU" dirty="0"/>
              <a:t>4</a:t>
            </a:r>
            <a:r>
              <a:rPr lang="en-US" dirty="0"/>
              <a:t>//Pods (</a:t>
            </a:r>
            <a:r>
              <a:rPr lang="ru-RU" dirty="0"/>
              <a:t>отсеки)</a:t>
            </a:r>
          </a:p>
        </p:txBody>
      </p:sp>
      <p:sp>
        <p:nvSpPr>
          <p:cNvPr id="6" name="AutoShape 2" descr="Kubernetes Pods: How to Create and Manage Them - GeeksforGeeks">
            <a:extLst>
              <a:ext uri="{FF2B5EF4-FFF2-40B4-BE49-F238E27FC236}">
                <a16:creationId xmlns:a16="http://schemas.microsoft.com/office/drawing/2014/main" id="{C92CD575-9084-4AC7-BB6E-C732559A8EF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6" descr="Kubernetes Pods: How to Create and Manage Them - GeeksforGeeks">
            <a:extLst>
              <a:ext uri="{FF2B5EF4-FFF2-40B4-BE49-F238E27FC236}">
                <a16:creationId xmlns:a16="http://schemas.microsoft.com/office/drawing/2014/main" id="{EDB8B643-7149-4D48-B973-67C10824792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8" descr="Kubernetes Pods: How to Create and Manage Them - GeeksforGeeks">
            <a:extLst>
              <a:ext uri="{FF2B5EF4-FFF2-40B4-BE49-F238E27FC236}">
                <a16:creationId xmlns:a16="http://schemas.microsoft.com/office/drawing/2014/main" id="{D35987F7-0A0D-4272-81CA-58B999605681}"/>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2" name="Рисунок 11">
            <a:extLst>
              <a:ext uri="{FF2B5EF4-FFF2-40B4-BE49-F238E27FC236}">
                <a16:creationId xmlns:a16="http://schemas.microsoft.com/office/drawing/2014/main" id="{1D9B5A12-BE95-493D-AC0A-3DCC9D478FDE}"/>
              </a:ext>
            </a:extLst>
          </p:cNvPr>
          <p:cNvPicPr>
            <a:picLocks noChangeAspect="1"/>
          </p:cNvPicPr>
          <p:nvPr/>
        </p:nvPicPr>
        <p:blipFill>
          <a:blip r:embed="rId3"/>
          <a:stretch>
            <a:fillRect/>
          </a:stretch>
        </p:blipFill>
        <p:spPr>
          <a:xfrm>
            <a:off x="95876" y="1690688"/>
            <a:ext cx="12000247" cy="4608095"/>
          </a:xfrm>
          <a:prstGeom prst="rect">
            <a:avLst/>
          </a:prstGeom>
        </p:spPr>
      </p:pic>
    </p:spTree>
    <p:extLst>
      <p:ext uri="{BB962C8B-B14F-4D97-AF65-F5344CB8AC3E}">
        <p14:creationId xmlns:p14="http://schemas.microsoft.com/office/powerpoint/2010/main" val="1354260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94D03A-01E1-4019-8109-E1863EACBBAD}"/>
              </a:ext>
            </a:extLst>
          </p:cNvPr>
          <p:cNvSpPr>
            <a:spLocks noGrp="1"/>
          </p:cNvSpPr>
          <p:nvPr>
            <p:ph type="title"/>
          </p:nvPr>
        </p:nvSpPr>
        <p:spPr/>
        <p:txBody>
          <a:bodyPr/>
          <a:lstStyle/>
          <a:p>
            <a:r>
              <a:rPr lang="en-US" dirty="0"/>
              <a:t>2</a:t>
            </a:r>
            <a:r>
              <a:rPr lang="ru-RU" dirty="0"/>
              <a:t>5</a:t>
            </a:r>
            <a:r>
              <a:rPr lang="en-US" dirty="0"/>
              <a:t>//</a:t>
            </a:r>
            <a:r>
              <a:rPr lang="ru-RU" dirty="0"/>
              <a:t>А дальше..</a:t>
            </a:r>
          </a:p>
        </p:txBody>
      </p:sp>
      <p:sp>
        <p:nvSpPr>
          <p:cNvPr id="3" name="Объект 2">
            <a:extLst>
              <a:ext uri="{FF2B5EF4-FFF2-40B4-BE49-F238E27FC236}">
                <a16:creationId xmlns:a16="http://schemas.microsoft.com/office/drawing/2014/main" id="{F7EDEDE2-2D01-48B4-9BAC-D359780E6002}"/>
              </a:ext>
            </a:extLst>
          </p:cNvPr>
          <p:cNvSpPr>
            <a:spLocks noGrp="1"/>
          </p:cNvSpPr>
          <p:nvPr>
            <p:ph idx="1"/>
          </p:nvPr>
        </p:nvSpPr>
        <p:spPr/>
        <p:txBody>
          <a:bodyPr/>
          <a:lstStyle/>
          <a:p>
            <a:r>
              <a:rPr lang="en-US" dirty="0"/>
              <a:t>Control Plane (</a:t>
            </a:r>
            <a:r>
              <a:rPr lang="ru-RU" dirty="0"/>
              <a:t>плоскость управления) и её компоненты: Объекты (</a:t>
            </a:r>
            <a:r>
              <a:rPr lang="en-US" dirty="0" err="1"/>
              <a:t>Kube-apiserver</a:t>
            </a:r>
            <a:r>
              <a:rPr lang="ru-RU" dirty="0"/>
              <a:t>, </a:t>
            </a:r>
            <a:r>
              <a:rPr lang="en-US" dirty="0" err="1"/>
              <a:t>Kube</a:t>
            </a:r>
            <a:r>
              <a:rPr lang="en-US" dirty="0"/>
              <a:t>-scheduler</a:t>
            </a:r>
            <a:r>
              <a:rPr lang="ru-RU" dirty="0"/>
              <a:t>, </a:t>
            </a:r>
            <a:r>
              <a:rPr lang="en-US" dirty="0" err="1"/>
              <a:t>Etcd</a:t>
            </a:r>
            <a:r>
              <a:rPr lang="ru-RU" dirty="0"/>
              <a:t>, </a:t>
            </a:r>
            <a:r>
              <a:rPr lang="en-US" dirty="0" err="1"/>
              <a:t>Kube</a:t>
            </a:r>
            <a:r>
              <a:rPr lang="en-US" dirty="0"/>
              <a:t>-controller-</a:t>
            </a:r>
            <a:r>
              <a:rPr lang="en-US" dirty="0" err="1"/>
              <a:t>managerCloud</a:t>
            </a:r>
            <a:r>
              <a:rPr lang="en-US" dirty="0"/>
              <a:t>-controller-manager</a:t>
            </a:r>
            <a:r>
              <a:rPr lang="ru-RU" dirty="0"/>
              <a:t>), объекты узлов (</a:t>
            </a:r>
            <a:r>
              <a:rPr lang="en-US" dirty="0" err="1"/>
              <a:t>Kubelet</a:t>
            </a:r>
            <a:r>
              <a:rPr lang="ru-RU" dirty="0"/>
              <a:t>, </a:t>
            </a:r>
            <a:r>
              <a:rPr lang="en-US" dirty="0" err="1"/>
              <a:t>Kube</a:t>
            </a:r>
            <a:r>
              <a:rPr lang="en-US" dirty="0"/>
              <a:t>-proxy</a:t>
            </a:r>
            <a:r>
              <a:rPr lang="ru-RU" dirty="0"/>
              <a:t>, </a:t>
            </a:r>
            <a:r>
              <a:rPr lang="en-US" dirty="0"/>
              <a:t>Container runtime</a:t>
            </a:r>
            <a:r>
              <a:rPr lang="ru-RU" dirty="0"/>
              <a:t>)</a:t>
            </a:r>
          </a:p>
          <a:p>
            <a:r>
              <a:rPr lang="ru-RU" dirty="0"/>
              <a:t>Рабочие нагрузки (Поды, запускающие один контейнер, поды, запускающие несколько контейнеров, хранение данных в подах, сети в подах, статус пода, статус контейнера)</a:t>
            </a:r>
          </a:p>
          <a:p>
            <a:pPr marL="0" indent="0">
              <a:buNone/>
            </a:pPr>
            <a:r>
              <a:rPr lang="ru-RU" dirty="0"/>
              <a:t>И многое другое</a:t>
            </a:r>
          </a:p>
        </p:txBody>
      </p:sp>
      <p:sp>
        <p:nvSpPr>
          <p:cNvPr id="6" name="AutoShape 2" descr="Kubernetes Pods: How to Create and Manage Them - GeeksforGeeks">
            <a:extLst>
              <a:ext uri="{FF2B5EF4-FFF2-40B4-BE49-F238E27FC236}">
                <a16:creationId xmlns:a16="http://schemas.microsoft.com/office/drawing/2014/main" id="{C92CD575-9084-4AC7-BB6E-C732559A8EF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6" descr="Kubernetes Pods: How to Create and Manage Them - GeeksforGeeks">
            <a:extLst>
              <a:ext uri="{FF2B5EF4-FFF2-40B4-BE49-F238E27FC236}">
                <a16:creationId xmlns:a16="http://schemas.microsoft.com/office/drawing/2014/main" id="{EDB8B643-7149-4D48-B973-67C10824792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8" descr="Kubernetes Pods: How to Create and Manage Them - GeeksforGeeks">
            <a:extLst>
              <a:ext uri="{FF2B5EF4-FFF2-40B4-BE49-F238E27FC236}">
                <a16:creationId xmlns:a16="http://schemas.microsoft.com/office/drawing/2014/main" id="{D35987F7-0A0D-4272-81CA-58B999605681}"/>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519065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D8BB19-6C02-42EB-8E3E-9A9247016738}"/>
              </a:ext>
            </a:extLst>
          </p:cNvPr>
          <p:cNvSpPr>
            <a:spLocks noGrp="1"/>
          </p:cNvSpPr>
          <p:nvPr>
            <p:ph type="title"/>
          </p:nvPr>
        </p:nvSpPr>
        <p:spPr/>
        <p:txBody>
          <a:bodyPr/>
          <a:lstStyle/>
          <a:p>
            <a:r>
              <a:rPr lang="ru-RU" dirty="0"/>
              <a:t>26</a:t>
            </a:r>
            <a:r>
              <a:rPr lang="en-US" dirty="0"/>
              <a:t>//</a:t>
            </a:r>
            <a:r>
              <a:rPr lang="ru-RU" dirty="0" err="1"/>
              <a:t>Микросервисы</a:t>
            </a:r>
            <a:endParaRPr lang="ru-RU" dirty="0"/>
          </a:p>
        </p:txBody>
      </p:sp>
      <p:sp>
        <p:nvSpPr>
          <p:cNvPr id="3" name="Объект 2">
            <a:extLst>
              <a:ext uri="{FF2B5EF4-FFF2-40B4-BE49-F238E27FC236}">
                <a16:creationId xmlns:a16="http://schemas.microsoft.com/office/drawing/2014/main" id="{831F19F8-DB67-43C8-8C54-1204346613E0}"/>
              </a:ext>
            </a:extLst>
          </p:cNvPr>
          <p:cNvSpPr>
            <a:spLocks noGrp="1"/>
          </p:cNvSpPr>
          <p:nvPr>
            <p:ph idx="1"/>
          </p:nvPr>
        </p:nvSpPr>
        <p:spPr/>
        <p:txBody>
          <a:bodyPr/>
          <a:lstStyle/>
          <a:p>
            <a:r>
              <a:rPr lang="ru-RU" dirty="0"/>
              <a:t>это подход, при котором единое приложение строится как набор небольших сервисов, каждый из которых работает в собственном процессе и коммуницирует с остальными используя легковесные механизмы, как правило HTTP. Эти сервисы построены вокруг бизнес-потребностей и развертываются независимо с использованием полностью автоматизированной среды. </a:t>
            </a:r>
          </a:p>
        </p:txBody>
      </p:sp>
    </p:spTree>
    <p:extLst>
      <p:ext uri="{BB962C8B-B14F-4D97-AF65-F5344CB8AC3E}">
        <p14:creationId xmlns:p14="http://schemas.microsoft.com/office/powerpoint/2010/main" val="3628315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Как микросервисы и Kubernetes повышают эффективность бизнеса | Cloud4Y">
            <a:extLst>
              <a:ext uri="{FF2B5EF4-FFF2-40B4-BE49-F238E27FC236}">
                <a16:creationId xmlns:a16="http://schemas.microsoft.com/office/drawing/2014/main" id="{A4074DFC-0CBA-4704-A424-BEFD9A5C6F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275FE3D0-238F-473F-8A30-1F54774AB3F2}"/>
              </a:ext>
            </a:extLst>
          </p:cNvPr>
          <p:cNvSpPr>
            <a:spLocks noGrp="1"/>
          </p:cNvSpPr>
          <p:nvPr>
            <p:ph type="title"/>
          </p:nvPr>
        </p:nvSpPr>
        <p:spPr/>
        <p:txBody>
          <a:bodyPr/>
          <a:lstStyle/>
          <a:p>
            <a:r>
              <a:rPr lang="ru-RU" dirty="0"/>
              <a:t>27</a:t>
            </a:r>
            <a:r>
              <a:rPr lang="en-US" dirty="0"/>
              <a:t>//</a:t>
            </a:r>
            <a:r>
              <a:rPr lang="ru-RU" dirty="0" err="1"/>
              <a:t>Микросервисы</a:t>
            </a:r>
            <a:endParaRPr lang="ru-RU" dirty="0"/>
          </a:p>
        </p:txBody>
      </p:sp>
    </p:spTree>
    <p:extLst>
      <p:ext uri="{BB962C8B-B14F-4D97-AF65-F5344CB8AC3E}">
        <p14:creationId xmlns:p14="http://schemas.microsoft.com/office/powerpoint/2010/main" val="1144573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0EE0C6-D503-4836-8D76-6F5313817974}"/>
              </a:ext>
            </a:extLst>
          </p:cNvPr>
          <p:cNvSpPr>
            <a:spLocks noGrp="1"/>
          </p:cNvSpPr>
          <p:nvPr>
            <p:ph type="title"/>
          </p:nvPr>
        </p:nvSpPr>
        <p:spPr/>
        <p:txBody>
          <a:bodyPr/>
          <a:lstStyle/>
          <a:p>
            <a:r>
              <a:rPr lang="ru-RU" dirty="0"/>
              <a:t>28</a:t>
            </a:r>
            <a:r>
              <a:rPr lang="en-US" dirty="0"/>
              <a:t>//</a:t>
            </a:r>
            <a:r>
              <a:rPr lang="ru-RU" dirty="0" err="1"/>
              <a:t>Kubernetes</a:t>
            </a:r>
            <a:r>
              <a:rPr lang="ru-RU" dirty="0"/>
              <a:t> предоставляет</a:t>
            </a:r>
          </a:p>
        </p:txBody>
      </p:sp>
      <p:sp>
        <p:nvSpPr>
          <p:cNvPr id="3" name="Объект 2">
            <a:extLst>
              <a:ext uri="{FF2B5EF4-FFF2-40B4-BE49-F238E27FC236}">
                <a16:creationId xmlns:a16="http://schemas.microsoft.com/office/drawing/2014/main" id="{D223D09A-B66A-4B44-8493-703C90B1D3D4}"/>
              </a:ext>
            </a:extLst>
          </p:cNvPr>
          <p:cNvSpPr>
            <a:spLocks noGrp="1"/>
          </p:cNvSpPr>
          <p:nvPr>
            <p:ph idx="1"/>
          </p:nvPr>
        </p:nvSpPr>
        <p:spPr/>
        <p:txBody>
          <a:bodyPr>
            <a:normAutofit/>
          </a:bodyPr>
          <a:lstStyle/>
          <a:p>
            <a:r>
              <a:rPr lang="ru-RU" dirty="0"/>
              <a:t>Быструю и автоматическую масштабируемость. </a:t>
            </a:r>
          </a:p>
          <a:p>
            <a:r>
              <a:rPr lang="ru-RU" dirty="0"/>
              <a:t>Гибкий подход к эксплуатации. Вся структура описывается в конфигурационных файлах - манифестах</a:t>
            </a:r>
          </a:p>
          <a:p>
            <a:r>
              <a:rPr lang="ru-RU" dirty="0"/>
              <a:t>Гибкий подход в управлении. </a:t>
            </a:r>
          </a:p>
          <a:p>
            <a:r>
              <a:rPr lang="ru-RU" dirty="0"/>
              <a:t>Универсальность. </a:t>
            </a:r>
          </a:p>
          <a:p>
            <a:r>
              <a:rPr lang="ru-RU" dirty="0"/>
              <a:t>Низкий порог вхождения в использование. </a:t>
            </a:r>
          </a:p>
        </p:txBody>
      </p:sp>
    </p:spTree>
    <p:extLst>
      <p:ext uri="{BB962C8B-B14F-4D97-AF65-F5344CB8AC3E}">
        <p14:creationId xmlns:p14="http://schemas.microsoft.com/office/powerpoint/2010/main" val="2247760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A932C4-ABD3-44B8-91C9-C80360D86060}"/>
              </a:ext>
            </a:extLst>
          </p:cNvPr>
          <p:cNvSpPr>
            <a:spLocks noGrp="1"/>
          </p:cNvSpPr>
          <p:nvPr>
            <p:ph type="title"/>
          </p:nvPr>
        </p:nvSpPr>
        <p:spPr/>
        <p:txBody>
          <a:bodyPr/>
          <a:lstStyle/>
          <a:p>
            <a:r>
              <a:rPr lang="ru-RU" dirty="0"/>
              <a:t>29</a:t>
            </a:r>
            <a:r>
              <a:rPr lang="en-US" dirty="0"/>
              <a:t>//</a:t>
            </a:r>
            <a:r>
              <a:rPr lang="ru-RU" dirty="0"/>
              <a:t>Пару слов о безопасности</a:t>
            </a:r>
          </a:p>
        </p:txBody>
      </p:sp>
      <p:sp>
        <p:nvSpPr>
          <p:cNvPr id="3" name="Объект 2">
            <a:extLst>
              <a:ext uri="{FF2B5EF4-FFF2-40B4-BE49-F238E27FC236}">
                <a16:creationId xmlns:a16="http://schemas.microsoft.com/office/drawing/2014/main" id="{6C37C043-C59B-4BC3-8EFD-CDA26A40E61B}"/>
              </a:ext>
            </a:extLst>
          </p:cNvPr>
          <p:cNvSpPr>
            <a:spLocks noGrp="1"/>
          </p:cNvSpPr>
          <p:nvPr>
            <p:ph idx="1"/>
          </p:nvPr>
        </p:nvSpPr>
        <p:spPr/>
        <p:txBody>
          <a:bodyPr>
            <a:normAutofit/>
          </a:bodyPr>
          <a:lstStyle/>
          <a:p>
            <a:r>
              <a:rPr lang="ru-RU" dirty="0"/>
              <a:t>Контейнеры и сам </a:t>
            </a:r>
            <a:r>
              <a:rPr lang="ru-RU" dirty="0" err="1"/>
              <a:t>Kubernetes</a:t>
            </a:r>
            <a:r>
              <a:rPr lang="ru-RU" dirty="0"/>
              <a:t> предоставляет большие возможности по организации и наблюдению за происходящим. </a:t>
            </a:r>
          </a:p>
          <a:p>
            <a:r>
              <a:rPr lang="ru-RU" dirty="0"/>
              <a:t>Взломы зачастую происходят по недосмотру конфигурации оборудования, операционных систем и ПО. </a:t>
            </a:r>
          </a:p>
        </p:txBody>
      </p:sp>
      <p:pic>
        <p:nvPicPr>
          <p:cNvPr id="8194" name="Picture 2" descr="https://habrastorage.org/r/w1560/getpro/habr/upload_files/3ad/d58/06c/3add5806c407623d0bc9bec9cec63207.png">
            <a:extLst>
              <a:ext uri="{FF2B5EF4-FFF2-40B4-BE49-F238E27FC236}">
                <a16:creationId xmlns:a16="http://schemas.microsoft.com/office/drawing/2014/main" id="{21B6D550-C4EC-44CA-8804-9BE08F17CF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594" b="4888"/>
          <a:stretch/>
        </p:blipFill>
        <p:spPr bwMode="auto">
          <a:xfrm>
            <a:off x="419100" y="3611561"/>
            <a:ext cx="11353800" cy="3286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176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0E1006-474E-4EFA-B8DC-96904DFFD98E}"/>
              </a:ext>
            </a:extLst>
          </p:cNvPr>
          <p:cNvSpPr>
            <a:spLocks noGrp="1"/>
          </p:cNvSpPr>
          <p:nvPr>
            <p:ph type="title"/>
          </p:nvPr>
        </p:nvSpPr>
        <p:spPr/>
        <p:txBody>
          <a:bodyPr/>
          <a:lstStyle/>
          <a:p>
            <a:r>
              <a:rPr lang="ru-RU" dirty="0"/>
              <a:t>30</a:t>
            </a:r>
            <a:r>
              <a:rPr lang="en-US" dirty="0"/>
              <a:t>//</a:t>
            </a:r>
            <a:r>
              <a:rPr lang="ru-RU" dirty="0"/>
              <a:t>Повышение безопасности контейнеров</a:t>
            </a:r>
          </a:p>
        </p:txBody>
      </p:sp>
      <p:sp>
        <p:nvSpPr>
          <p:cNvPr id="3" name="Объект 2">
            <a:extLst>
              <a:ext uri="{FF2B5EF4-FFF2-40B4-BE49-F238E27FC236}">
                <a16:creationId xmlns:a16="http://schemas.microsoft.com/office/drawing/2014/main" id="{2712CBE6-2754-4E74-B9BB-1D9CEB454AA3}"/>
              </a:ext>
            </a:extLst>
          </p:cNvPr>
          <p:cNvSpPr>
            <a:spLocks noGrp="1"/>
          </p:cNvSpPr>
          <p:nvPr>
            <p:ph idx="1"/>
          </p:nvPr>
        </p:nvSpPr>
        <p:spPr/>
        <p:txBody>
          <a:bodyPr/>
          <a:lstStyle/>
          <a:p>
            <a:r>
              <a:rPr lang="ru-RU" dirty="0"/>
              <a:t>Для повышения безопасности контейнеров </a:t>
            </a:r>
            <a:r>
              <a:rPr lang="ru-RU" dirty="0" err="1"/>
              <a:t>Docker</a:t>
            </a:r>
            <a:r>
              <a:rPr lang="ru-RU" dirty="0"/>
              <a:t> можно привлечь ряд дополнительных инструментов, таких как </a:t>
            </a:r>
            <a:r>
              <a:rPr lang="ru-RU" dirty="0" err="1"/>
              <a:t>AppArmor</a:t>
            </a:r>
            <a:r>
              <a:rPr lang="ru-RU" dirty="0"/>
              <a:t>, </a:t>
            </a:r>
            <a:r>
              <a:rPr lang="ru-RU" dirty="0" err="1"/>
              <a:t>Seccomp</a:t>
            </a:r>
            <a:r>
              <a:rPr lang="ru-RU" dirty="0"/>
              <a:t> и </a:t>
            </a:r>
            <a:r>
              <a:rPr lang="ru-RU" dirty="0" err="1"/>
              <a:t>SELinux</a:t>
            </a:r>
            <a:r>
              <a:rPr lang="ru-RU" dirty="0"/>
              <a:t>. Эти технологии позволяют ограничивать действия контейнеров и улучшать общую безопасность системы.</a:t>
            </a:r>
          </a:p>
        </p:txBody>
      </p:sp>
      <p:pic>
        <p:nvPicPr>
          <p:cNvPr id="4" name="Рисунок 3">
            <a:extLst>
              <a:ext uri="{FF2B5EF4-FFF2-40B4-BE49-F238E27FC236}">
                <a16:creationId xmlns:a16="http://schemas.microsoft.com/office/drawing/2014/main" id="{80D6554A-3F3F-4B25-9F35-B4CDAAE863C6}"/>
              </a:ext>
            </a:extLst>
          </p:cNvPr>
          <p:cNvPicPr>
            <a:picLocks noChangeAspect="1"/>
          </p:cNvPicPr>
          <p:nvPr/>
        </p:nvPicPr>
        <p:blipFill rotWithShape="1">
          <a:blip r:embed="rId2"/>
          <a:srcRect t="15401"/>
          <a:stretch/>
        </p:blipFill>
        <p:spPr>
          <a:xfrm>
            <a:off x="3051885" y="3494871"/>
            <a:ext cx="6088230" cy="3363129"/>
          </a:xfrm>
          <a:prstGeom prst="rect">
            <a:avLst/>
          </a:prstGeom>
        </p:spPr>
      </p:pic>
    </p:spTree>
    <p:extLst>
      <p:ext uri="{BB962C8B-B14F-4D97-AF65-F5344CB8AC3E}">
        <p14:creationId xmlns:p14="http://schemas.microsoft.com/office/powerpoint/2010/main" val="4127280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F6448B-D3A6-4C0D-ABBD-754A211A530D}"/>
              </a:ext>
            </a:extLst>
          </p:cNvPr>
          <p:cNvSpPr>
            <a:spLocks noGrp="1"/>
          </p:cNvSpPr>
          <p:nvPr>
            <p:ph type="title"/>
          </p:nvPr>
        </p:nvSpPr>
        <p:spPr/>
        <p:txBody>
          <a:bodyPr/>
          <a:lstStyle/>
          <a:p>
            <a:r>
              <a:rPr lang="ru-RU" dirty="0"/>
              <a:t>31</a:t>
            </a:r>
            <a:r>
              <a:rPr lang="en-US" dirty="0"/>
              <a:t>//</a:t>
            </a:r>
            <a:r>
              <a:rPr lang="en-US" dirty="0" err="1"/>
              <a:t>AppArmor</a:t>
            </a:r>
            <a:r>
              <a:rPr lang="en-US" dirty="0"/>
              <a:t> </a:t>
            </a:r>
            <a:endParaRPr lang="ru-RU" dirty="0"/>
          </a:p>
        </p:txBody>
      </p:sp>
      <p:sp>
        <p:nvSpPr>
          <p:cNvPr id="3" name="Объект 2">
            <a:extLst>
              <a:ext uri="{FF2B5EF4-FFF2-40B4-BE49-F238E27FC236}">
                <a16:creationId xmlns:a16="http://schemas.microsoft.com/office/drawing/2014/main" id="{EFBB91DB-B210-4D79-84D1-963658401879}"/>
              </a:ext>
            </a:extLst>
          </p:cNvPr>
          <p:cNvSpPr>
            <a:spLocks noGrp="1"/>
          </p:cNvSpPr>
          <p:nvPr>
            <p:ph idx="1"/>
          </p:nvPr>
        </p:nvSpPr>
        <p:spPr/>
        <p:txBody>
          <a:bodyPr/>
          <a:lstStyle/>
          <a:p>
            <a:r>
              <a:rPr lang="ru-RU" dirty="0" err="1"/>
              <a:t>AppArmor</a:t>
            </a:r>
            <a:r>
              <a:rPr lang="ru-RU" dirty="0"/>
              <a:t> — система управления доступом, которая позволяет задавать профили безопасности для контейнеров. Она контролирует доступность ресурсов и тем самым помогает защитить систему от потенциально вредоносного поведения контейнеров.</a:t>
            </a:r>
          </a:p>
        </p:txBody>
      </p:sp>
      <p:pic>
        <p:nvPicPr>
          <p:cNvPr id="9218" name="Picture 2" descr="In-Depth Defense with AppArmor and TKG – beyond elastic">
            <a:extLst>
              <a:ext uri="{FF2B5EF4-FFF2-40B4-BE49-F238E27FC236}">
                <a16:creationId xmlns:a16="http://schemas.microsoft.com/office/drawing/2014/main" id="{FA833B26-6A99-4961-96B8-89AD7754A7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712" b="11084"/>
          <a:stretch/>
        </p:blipFill>
        <p:spPr bwMode="auto">
          <a:xfrm>
            <a:off x="2828165" y="4070516"/>
            <a:ext cx="6535670" cy="2546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099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882140-58B5-4128-8ACF-B0B1AE085093}"/>
              </a:ext>
            </a:extLst>
          </p:cNvPr>
          <p:cNvSpPr>
            <a:spLocks noGrp="1"/>
          </p:cNvSpPr>
          <p:nvPr>
            <p:ph type="title"/>
          </p:nvPr>
        </p:nvSpPr>
        <p:spPr/>
        <p:txBody>
          <a:bodyPr/>
          <a:lstStyle/>
          <a:p>
            <a:r>
              <a:rPr lang="ru-RU" dirty="0"/>
              <a:t>32</a:t>
            </a:r>
            <a:r>
              <a:rPr lang="en-US" dirty="0"/>
              <a:t>//</a:t>
            </a:r>
            <a:r>
              <a:rPr lang="en-US" dirty="0" err="1"/>
              <a:t>Seccomp</a:t>
            </a:r>
            <a:r>
              <a:rPr lang="en-US" dirty="0"/>
              <a:t> </a:t>
            </a:r>
            <a:endParaRPr lang="ru-RU" dirty="0"/>
          </a:p>
        </p:txBody>
      </p:sp>
      <p:sp>
        <p:nvSpPr>
          <p:cNvPr id="3" name="Объект 2">
            <a:extLst>
              <a:ext uri="{FF2B5EF4-FFF2-40B4-BE49-F238E27FC236}">
                <a16:creationId xmlns:a16="http://schemas.microsoft.com/office/drawing/2014/main" id="{8EA750ED-9906-47A5-895F-160A569BE815}"/>
              </a:ext>
            </a:extLst>
          </p:cNvPr>
          <p:cNvSpPr>
            <a:spLocks noGrp="1"/>
          </p:cNvSpPr>
          <p:nvPr>
            <p:ph idx="1"/>
          </p:nvPr>
        </p:nvSpPr>
        <p:spPr/>
        <p:txBody>
          <a:bodyPr>
            <a:normAutofit fontScale="92500" lnSpcReduction="20000"/>
          </a:bodyPr>
          <a:lstStyle/>
          <a:p>
            <a:r>
              <a:rPr lang="ru-RU" dirty="0" err="1"/>
              <a:t>Seccomp</a:t>
            </a:r>
            <a:r>
              <a:rPr lang="ru-RU" dirty="0"/>
              <a:t> — инструмент, который позволяет ограничить набор системных вызовов, доступных контейнеру. По умолчанию </a:t>
            </a:r>
            <a:r>
              <a:rPr lang="ru-RU" dirty="0" err="1"/>
              <a:t>Docker</a:t>
            </a:r>
            <a:r>
              <a:rPr lang="ru-RU" dirty="0"/>
              <a:t> применяет базовые настройки </a:t>
            </a:r>
            <a:r>
              <a:rPr lang="ru-RU" dirty="0" err="1"/>
              <a:t>Seccomp</a:t>
            </a:r>
            <a:r>
              <a:rPr lang="ru-RU" dirty="0"/>
              <a:t>, которые блокируют системные вызовы.</a:t>
            </a:r>
          </a:p>
          <a:p>
            <a:pPr marL="0" indent="0">
              <a:buNone/>
            </a:pPr>
            <a:r>
              <a:rPr lang="ru-RU" dirty="0" err="1"/>
              <a:t>Docker</a:t>
            </a:r>
            <a:r>
              <a:rPr lang="ru-RU" dirty="0"/>
              <a:t> с базовым профилем </a:t>
            </a:r>
            <a:r>
              <a:rPr lang="ru-RU" dirty="0" err="1"/>
              <a:t>Seccomp</a:t>
            </a:r>
            <a:r>
              <a:rPr lang="ru-RU" dirty="0"/>
              <a:t> блокирует следующие вызовы:</a:t>
            </a:r>
          </a:p>
          <a:p>
            <a:r>
              <a:rPr lang="ru-RU" b="1" dirty="0" err="1"/>
              <a:t>mount</a:t>
            </a:r>
            <a:r>
              <a:rPr lang="ru-RU" dirty="0"/>
              <a:t> — предотвращает монтирование файловых систем, защищая данные хоста от несанкционированного доступа;</a:t>
            </a:r>
          </a:p>
          <a:p>
            <a:r>
              <a:rPr lang="ru-RU" b="1" dirty="0" err="1"/>
              <a:t>reboot</a:t>
            </a:r>
            <a:r>
              <a:rPr lang="ru-RU" dirty="0"/>
              <a:t> — исключает возможность перезагрузки системы из контейнера;</a:t>
            </a:r>
          </a:p>
          <a:p>
            <a:r>
              <a:rPr lang="ru-RU" b="1" dirty="0" err="1"/>
              <a:t>ptrace</a:t>
            </a:r>
            <a:r>
              <a:rPr lang="ru-RU" dirty="0"/>
              <a:t> — блокирует инструменты отладки, которые могут дать доступ к памяти и процессам хоста;</a:t>
            </a:r>
          </a:p>
          <a:p>
            <a:r>
              <a:rPr lang="ru-RU" b="1" dirty="0" err="1"/>
              <a:t>kexec_load</a:t>
            </a:r>
            <a:r>
              <a:rPr lang="ru-RU" dirty="0"/>
              <a:t> — запрещает загрузку и замену ядра, что предотвращает захват системы на более глубоком уровне.</a:t>
            </a:r>
          </a:p>
        </p:txBody>
      </p:sp>
    </p:spTree>
    <p:extLst>
      <p:ext uri="{BB962C8B-B14F-4D97-AF65-F5344CB8AC3E}">
        <p14:creationId xmlns:p14="http://schemas.microsoft.com/office/powerpoint/2010/main" val="986807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83B63DAB-4A89-4DD7-A214-B9F47CE0A8D9}"/>
              </a:ext>
            </a:extLst>
          </p:cNvPr>
          <p:cNvPicPr>
            <a:picLocks noChangeAspect="1"/>
          </p:cNvPicPr>
          <p:nvPr/>
        </p:nvPicPr>
        <p:blipFill rotWithShape="1">
          <a:blip r:embed="rId2"/>
          <a:srcRect l="21029" r="21948"/>
          <a:stretch/>
        </p:blipFill>
        <p:spPr>
          <a:xfrm>
            <a:off x="9769642" y="4507832"/>
            <a:ext cx="2177716" cy="2350168"/>
          </a:xfrm>
          <a:prstGeom prst="rect">
            <a:avLst/>
          </a:prstGeom>
        </p:spPr>
      </p:pic>
      <p:sp>
        <p:nvSpPr>
          <p:cNvPr id="2" name="Заголовок 1">
            <a:extLst>
              <a:ext uri="{FF2B5EF4-FFF2-40B4-BE49-F238E27FC236}">
                <a16:creationId xmlns:a16="http://schemas.microsoft.com/office/drawing/2014/main" id="{DD0B0215-3BF8-4533-A21C-6E1B4EE6E8F0}"/>
              </a:ext>
            </a:extLst>
          </p:cNvPr>
          <p:cNvSpPr>
            <a:spLocks noGrp="1"/>
          </p:cNvSpPr>
          <p:nvPr>
            <p:ph type="title"/>
          </p:nvPr>
        </p:nvSpPr>
        <p:spPr/>
        <p:txBody>
          <a:bodyPr/>
          <a:lstStyle/>
          <a:p>
            <a:r>
              <a:rPr lang="ru-RU" dirty="0"/>
              <a:t>33</a:t>
            </a:r>
            <a:r>
              <a:rPr lang="en-US" dirty="0"/>
              <a:t>//</a:t>
            </a:r>
            <a:r>
              <a:rPr lang="en-US" dirty="0" err="1"/>
              <a:t>SELinux</a:t>
            </a:r>
            <a:r>
              <a:rPr lang="en-US" dirty="0"/>
              <a:t> </a:t>
            </a:r>
            <a:endParaRPr lang="ru-RU" dirty="0"/>
          </a:p>
        </p:txBody>
      </p:sp>
      <p:sp>
        <p:nvSpPr>
          <p:cNvPr id="3" name="Объект 2">
            <a:extLst>
              <a:ext uri="{FF2B5EF4-FFF2-40B4-BE49-F238E27FC236}">
                <a16:creationId xmlns:a16="http://schemas.microsoft.com/office/drawing/2014/main" id="{5AF988D7-4654-40D8-8BEB-51B342E87686}"/>
              </a:ext>
            </a:extLst>
          </p:cNvPr>
          <p:cNvSpPr>
            <a:spLocks noGrp="1"/>
          </p:cNvSpPr>
          <p:nvPr>
            <p:ph idx="1"/>
          </p:nvPr>
        </p:nvSpPr>
        <p:spPr/>
        <p:txBody>
          <a:bodyPr>
            <a:normAutofit/>
          </a:bodyPr>
          <a:lstStyle/>
          <a:p>
            <a:r>
              <a:rPr lang="ru-RU" dirty="0" err="1"/>
              <a:t>SELinux</a:t>
            </a:r>
            <a:r>
              <a:rPr lang="ru-RU" dirty="0"/>
              <a:t> —</a:t>
            </a:r>
            <a:r>
              <a:rPr lang="en-US" dirty="0"/>
              <a:t> </a:t>
            </a:r>
            <a:r>
              <a:rPr lang="ru-RU" dirty="0"/>
              <a:t>система управления, которая позволяет контролировать доступ на более детальном уровне. </a:t>
            </a:r>
            <a:r>
              <a:rPr lang="ru-RU" dirty="0" err="1"/>
              <a:t>SELinux</a:t>
            </a:r>
            <a:r>
              <a:rPr lang="ru-RU" dirty="0"/>
              <a:t> использует метки безопасности, которые применяются к объектам и процессам, позволяя управлять доступом на основе политик. </a:t>
            </a:r>
            <a:endParaRPr lang="en-US" dirty="0"/>
          </a:p>
          <a:p>
            <a:r>
              <a:rPr lang="ru-RU" dirty="0"/>
              <a:t>Совместное использование </a:t>
            </a:r>
            <a:r>
              <a:rPr lang="ru-RU" dirty="0" err="1"/>
              <a:t>AppArmor</a:t>
            </a:r>
            <a:r>
              <a:rPr lang="ru-RU" dirty="0"/>
              <a:t>, </a:t>
            </a:r>
            <a:r>
              <a:rPr lang="ru-RU" dirty="0" err="1"/>
              <a:t>Seccomp</a:t>
            </a:r>
            <a:r>
              <a:rPr lang="ru-RU" dirty="0"/>
              <a:t> и </a:t>
            </a:r>
            <a:r>
              <a:rPr lang="ru-RU" dirty="0" err="1"/>
              <a:t>SELinux</a:t>
            </a:r>
            <a:r>
              <a:rPr lang="ru-RU" dirty="0"/>
              <a:t> создает многоуровневую защиту для контейнеров и значительно уменьшает риск эксплуатации уязвимостей.</a:t>
            </a:r>
          </a:p>
        </p:txBody>
      </p:sp>
    </p:spTree>
    <p:extLst>
      <p:ext uri="{BB962C8B-B14F-4D97-AF65-F5344CB8AC3E}">
        <p14:creationId xmlns:p14="http://schemas.microsoft.com/office/powerpoint/2010/main" val="2489908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7A0423-A679-470A-8CE8-6E4366463E73}"/>
              </a:ext>
            </a:extLst>
          </p:cNvPr>
          <p:cNvSpPr>
            <a:spLocks noGrp="1"/>
          </p:cNvSpPr>
          <p:nvPr>
            <p:ph type="title"/>
          </p:nvPr>
        </p:nvSpPr>
        <p:spPr/>
        <p:txBody>
          <a:bodyPr/>
          <a:lstStyle/>
          <a:p>
            <a:r>
              <a:rPr lang="ru-RU" dirty="0"/>
              <a:t>Полезные ссылки</a:t>
            </a:r>
          </a:p>
        </p:txBody>
      </p:sp>
      <p:sp>
        <p:nvSpPr>
          <p:cNvPr id="3" name="Объект 2">
            <a:extLst>
              <a:ext uri="{FF2B5EF4-FFF2-40B4-BE49-F238E27FC236}">
                <a16:creationId xmlns:a16="http://schemas.microsoft.com/office/drawing/2014/main" id="{69658E42-C54C-48DB-8270-65A481F16293}"/>
              </a:ext>
            </a:extLst>
          </p:cNvPr>
          <p:cNvSpPr>
            <a:spLocks noGrp="1"/>
          </p:cNvSpPr>
          <p:nvPr>
            <p:ph idx="1"/>
          </p:nvPr>
        </p:nvSpPr>
        <p:spPr/>
        <p:txBody>
          <a:bodyPr/>
          <a:lstStyle/>
          <a:p>
            <a:r>
              <a:rPr lang="ru-RU" dirty="0"/>
              <a:t>Курс </a:t>
            </a:r>
            <a:r>
              <a:rPr lang="en-US" dirty="0"/>
              <a:t>k8s </a:t>
            </a:r>
            <a:r>
              <a:rPr lang="ru-RU" dirty="0"/>
              <a:t>для начинающих </a:t>
            </a:r>
            <a:r>
              <a:rPr lang="en-US" dirty="0">
                <a:hlinkClick r:id="rId2"/>
              </a:rPr>
              <a:t>https://habr.com/ru/articles/589415/</a:t>
            </a:r>
            <a:endParaRPr lang="ru-RU" dirty="0"/>
          </a:p>
          <a:p>
            <a:r>
              <a:rPr lang="ru-RU" dirty="0"/>
              <a:t>Курс для начинающих от </a:t>
            </a:r>
            <a:r>
              <a:rPr lang="en-US" dirty="0"/>
              <a:t>reg.ru</a:t>
            </a:r>
            <a:r>
              <a:rPr lang="ru-RU" dirty="0"/>
              <a:t> (более технический) </a:t>
            </a:r>
            <a:r>
              <a:rPr lang="en-US" dirty="0">
                <a:hlinkClick r:id="rId3"/>
              </a:rPr>
              <a:t>https://www.reg.ru/blog/k8s-dlya-nachinayushchih/</a:t>
            </a:r>
            <a:endParaRPr lang="ru-RU" dirty="0"/>
          </a:p>
          <a:p>
            <a:endParaRPr lang="ru-RU" dirty="0"/>
          </a:p>
          <a:p>
            <a:endParaRPr lang="ru-RU" dirty="0"/>
          </a:p>
        </p:txBody>
      </p:sp>
    </p:spTree>
    <p:extLst>
      <p:ext uri="{BB962C8B-B14F-4D97-AF65-F5344CB8AC3E}">
        <p14:creationId xmlns:p14="http://schemas.microsoft.com/office/powerpoint/2010/main" val="62005675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3067</Words>
  <Application>Microsoft Office PowerPoint</Application>
  <PresentationFormat>Широкоэкранный</PresentationFormat>
  <Paragraphs>177</Paragraphs>
  <Slides>26</Slides>
  <Notes>18</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26</vt:i4>
      </vt:variant>
    </vt:vector>
  </HeadingPairs>
  <TitlesOfParts>
    <vt:vector size="30" baseType="lpstr">
      <vt:lpstr>Arial</vt:lpstr>
      <vt:lpstr>Calibri</vt:lpstr>
      <vt:lpstr>Calibri Light</vt:lpstr>
      <vt:lpstr>Тема Office</vt:lpstr>
      <vt:lpstr>Kubernetes (K8s)</vt:lpstr>
      <vt:lpstr>2//Что такое Kubernetes?</vt:lpstr>
      <vt:lpstr>3//Что такое контейнеризация?</vt:lpstr>
      <vt:lpstr>4//Разница между контейнером и виртуальной машиной?</vt:lpstr>
      <vt:lpstr>5//Контейнер и виртуальная машина</vt:lpstr>
      <vt:lpstr>6//Что такое Docker?</vt:lpstr>
      <vt:lpstr>7//Docker</vt:lpstr>
      <vt:lpstr>16//Вернемся к Kubernetes?</vt:lpstr>
      <vt:lpstr>17//Для чего используется?</vt:lpstr>
      <vt:lpstr>18//Возможности k8s</vt:lpstr>
      <vt:lpstr>19//Чем Kubernetes не является?</vt:lpstr>
      <vt:lpstr>20//Архитектура Kubernetes</vt:lpstr>
      <vt:lpstr>21//Архитектура Kubernetes</vt:lpstr>
      <vt:lpstr>22//Типы нод</vt:lpstr>
      <vt:lpstr>23//Pods (отсеки)</vt:lpstr>
      <vt:lpstr>24//Pods (отсеки)</vt:lpstr>
      <vt:lpstr>25//А дальше..</vt:lpstr>
      <vt:lpstr>26//Микросервисы</vt:lpstr>
      <vt:lpstr>27//Микросервисы</vt:lpstr>
      <vt:lpstr>28//Kubernetes предоставляет</vt:lpstr>
      <vt:lpstr>29//Пару слов о безопасности</vt:lpstr>
      <vt:lpstr>30//Повышение безопасности контейнеров</vt:lpstr>
      <vt:lpstr>31//AppArmor </vt:lpstr>
      <vt:lpstr>32//Seccomp </vt:lpstr>
      <vt:lpstr>33//SELinux </vt:lpstr>
      <vt:lpstr>Полезные ссылки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Контейнеризация, виртуализация</dc:title>
  <dc:creator>User</dc:creator>
  <cp:lastModifiedBy>user</cp:lastModifiedBy>
  <cp:revision>43</cp:revision>
  <dcterms:created xsi:type="dcterms:W3CDTF">2025-01-28T06:06:37Z</dcterms:created>
  <dcterms:modified xsi:type="dcterms:W3CDTF">2026-03-24T11:57:16Z</dcterms:modified>
</cp:coreProperties>
</file>